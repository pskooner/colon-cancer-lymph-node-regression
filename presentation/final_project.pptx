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Action1.xml" ContentType="application/vnd.ms-office.inkAction+xml"/>
  <Override PartName="/ppt/notesSlides/notesSlide3.xml" ContentType="application/vnd.openxmlformats-officedocument.presentationml.notesSlide+xml"/>
  <Override PartName="/ppt/ink/inkAction2.xml" ContentType="application/vnd.ms-office.inkAct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Action3.xml" ContentType="application/vnd.ms-office.inkAction+xml"/>
  <Override PartName="/ppt/notesSlides/notesSlide6.xml" ContentType="application/vnd.openxmlformats-officedocument.presentationml.notesSlide+xml"/>
  <Override PartName="/ppt/ink/inkAction4.xml" ContentType="application/vnd.ms-office.inkAction+xml"/>
  <Override PartName="/ppt/notesSlides/notesSlide7.xml" ContentType="application/vnd.openxmlformats-officedocument.presentationml.notesSlide+xml"/>
  <Override PartName="/ppt/ink/inkAction5.xml" ContentType="application/vnd.ms-office.inkAction+xml"/>
  <Override PartName="/ppt/notesSlides/notesSlide8.xml" ContentType="application/vnd.openxmlformats-officedocument.presentationml.notesSlide+xml"/>
  <Override PartName="/ppt/ink/inkAction6.xml" ContentType="application/vnd.ms-office.inkAction+xml"/>
  <Override PartName="/ppt/notesSlides/notesSlide9.xml" ContentType="application/vnd.openxmlformats-officedocument.presentationml.notesSlide+xml"/>
  <Override PartName="/ppt/ink/inkAction7.xml" ContentType="application/vnd.ms-office.inkAct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73" r:id="rId5"/>
    <p:sldId id="276" r:id="rId6"/>
    <p:sldId id="260" r:id="rId7"/>
    <p:sldId id="261" r:id="rId8"/>
    <p:sldId id="262" r:id="rId9"/>
    <p:sldId id="274" r:id="rId10"/>
    <p:sldId id="275" r:id="rId11"/>
    <p:sldId id="277" r:id="rId12"/>
    <p:sldId id="289" r:id="rId13"/>
    <p:sldId id="290" r:id="rId14"/>
    <p:sldId id="279" r:id="rId15"/>
    <p:sldId id="280" r:id="rId16"/>
    <p:sldId id="281" r:id="rId17"/>
    <p:sldId id="282" r:id="rId18"/>
    <p:sldId id="264" r:id="rId19"/>
    <p:sldId id="265" r:id="rId20"/>
    <p:sldId id="266" r:id="rId21"/>
    <p:sldId id="267" r:id="rId22"/>
    <p:sldId id="278" r:id="rId23"/>
    <p:sldId id="269" r:id="rId24"/>
    <p:sldId id="270" r:id="rId25"/>
    <p:sldId id="288" r:id="rId26"/>
    <p:sldId id="283" r:id="rId27"/>
    <p:sldId id="284" r:id="rId28"/>
    <p:sldId id="285" r:id="rId29"/>
    <p:sldId id="286" r:id="rId30"/>
    <p:sldId id="287" r:id="rId31"/>
    <p:sldId id="27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80D61-24C8-4A9C-B081-A2841B95E062}" v="54" dt="2026-04-28T04:45:18.117"/>
    <p1510:client id="{D3470405-25E6-6535-782B-7E833A5D1B70}" v="11" dt="2026-04-28T04:04:11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45" autoAdjust="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1553">
    <iact:property name="dataType"/>
    <iact:actionData xml:id="d0">
      <inkml:trace xmlns:inkml="http://www.w3.org/2003/InkML" xml:id="stk0" contextRef="#ctx0" brushRef="#br0">21458 8238 24575 0,'20'-25'0'4,"7"13"0"0,10 4 0 0,8 5 0 0,10 3 0 0,6 2 0 0,2-1-1405 0,-13-1 1 0,2 0 0 0,3 0-1 0,2 0 1 0,0 0 0 0,1 0-1 0,-1 0 1192 0,3 0 0 0,0 0 0 0,0 0 0 0,1 0 1 0,0 0-1 0,2 0 0 0,0 0-27 0,-7 0 1 0,1 0-1 0,2 0 1 0,0 0 0 0,0 0-1 0,0 0 1 0,-1 0 0 0,0 0-1 0,-3 0 240 0,9 0 0 0,-2 0 0 0,-1 0 0 0,-1 0 0 0,0 0 0 0,1 0 0 0,-1 0-126 1,2 0 1-1,0 0-1 0,0 0 1 0,0 0-1 0,-1 0 1 0,1 0-1 0,-2 0 126 0,-3 0 0 0,0 0 0 0,0 0 0 0,0 0 0 0,-2 0 0 0,1 0 0 0,-2 0-339 0,5 0 1 0,-1 0 0 0,-1 0 0 0,0 0 0 0,-1 0 0 0,1 0 338 0,-2 0 0 0,1 0 0 0,-1 0 0 0,0 0 0 0,0 0 0 0,0 0 0 0,7 0 0 0,0 0 0 0,0 0 0 0,-1 0 0 0,0 0 0 0,-1 0 0 0,-1 0 0 0,0 0 0 0,-1 0 0 0,0 0 0 0,-2 0 0 1,1 0 0-1,-2 0 0 0,-1 0 0 0,-2 0 0 0,13 0 0 0,-4 0 0 0,-1 0 506 0,1 0 1 0,0 0 0 0,2 0-507 0,-10 0 0 0,2 0 0 0,-1 0 0 0,-2 0 0 0,0 0 0 0,-3 0 0 0,4 0 273 0,1 0 0 0,4 0 0 0,0 0 0 0,-4 0-273 0,0 0 0 0,-2 0 0 0,-1 0 0 0,-1 0 0 0,-1 0 0 0,1 0 703 0,2 0 0 0,0 0 0 0,-2 0-703 0,8 0 0 0,-1 0 0 0,-8 0 0 0,3 0 0 0,-4 0 0 0,2 0 0 0,0 0 0 1,-2 0 0-1,4 0 0 0,-3 0 0 0,4 0 0 0,-2 0 1630 0,6 0 0 0,-2 0-1630 0,-5 0 0 0,0 0 510 0,4 0 0 0,2 0-510 0,1 0 0 0,0 0 0 0,1 0 0 0,-2 0 1076 0,-10 0 0 0,-2 0-1076 0,0 0 0 0,-3 0 0 0,8 0 1043 0,-16 0 0 0,-1 0-1043 0,13 0 1589 0,0 0-1589 0,0 0 109 0,-21 0-109 0,-4 0 1432 0,-20 0-1432 0,20 0 15 0,-15 0-15 0,15 0 0 0,-20 0 0 0,0 0 0 0,-20-20 0 0,15 15 0 0,-15-15 0 1</inkml:trace>
    </iact:actionData>
  </iact:action>
  <iact:action type="add" startTime="33915">
    <iact:property name="dataType"/>
    <iact:actionData xml:id="d1">
      <inkml:trace xmlns:inkml="http://www.w3.org/2003/InkML" xml:id="stk1" contextRef="#ctx0" brushRef="#br0">21458 10723 24575 0,'55'0'0'3,"-1"0"0"0,1 0 0 0,-2 0 0 0,0 0 0 1,3 0 0-1,-2 0 0 0,3 0 0 0,2 0 0 0,0 0-2458 1,1 0 0-1,1 0 1 0,1 0-1 0,4 0 2209 1,-13 0 1-1,2 0 0 0,1 0 0 0,2 0-1 0,1 0 1 1,3 0-22-1,-3 0 1 0,2 0 0 0,3 0-1 0,0 0 1 1,1 0 0-1,1 0 0 0,-2 0-1 0,-2 0 270 1,-4 0 0-1,-1 0 0 0,0 0 0 0,-1 0 0 0,0 0 0 1,1 0 0-1,1 0 0 0,1 0-98 0,2 0 0 1,1 0 1-1,1 0-1 0,1 0 1 0,1 0-1 0,-1 0 0 1,-1 0 1-1,-1 0-1 0,-1 0 98 0,0 0 0 0,-1 0 0 1,0 0 0-1,-2 0 0 0,0 0 0 0,0 0 0 1,-1 0 0-1,-1 0-290 0,2 0 0 0,-1 0 0 0,0 0 1 1,-1 0-1-1,-1 0 0 0,1 0 0 0,1 0 290 1,1 0 0-1,0 0 0 0,1 0 0 0,-1 0 0 0,0 0 0 1,-1 0 0-1,-2 0 0 0,1 0 0 0,-2 0 0 0,0 0 0 1,-1 0 0-1,0 0 0 0,1 0 0 0,2 0 0 1,0 0 0-1,1 0 0 0,0 0 0 0,-1 0 0 0,-2 0 0 1,1 0 0-1,-1 0 0 0,0 0 0 0,-2 0 0 1,1 0 123-1,0 0 1 0,0 0 0 0,0 0 0 0,-2 0 0 1,-2 0-124-1,14 0 0 0,-4 0 0 0,-2 0 433 0,-6 0 0 1,-1 0 0-1,-1 0-433 0,-4 0 0 0,0 0 0 1,-3 0 1343-1,-1 0 1 0,-3 0-1344 0,-3 0 0 0,-5 0 4311 1,-5 0-4311-1,-5-20 0 0,-20 15 0 0,0-15 0 1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067">
    <iact:property name="dataType"/>
    <iact:actionData xml:id="d0">
      <inkml:trace xmlns:inkml="http://www.w3.org/2003/InkML" xml:id="stk0" contextRef="#ctx0" brushRef="#br0">7459 8059 24575 0,'56'0'0'3,"1"0"0"1,-1 0 0-1,-9 0 0 1,3 0 0 0,2 0 0-1,2 0 0 1,2 0-1405 0,-5 0 1-1,2 0 0 1,2 0-1 0,1 0 1-1,0 0 0 1,2 0-1 0,-1 0 1192-1,2 0 0 1,0 0 0 0,0 0 0-1,2 0 1 1,1 0-1 0,3 0 0-1,3 0 33 1,-13 0 0 0,3 0 1-1,2 0-1 1,3 0 1-1,1 0-1 1,1 0 1 0,0 0-1-1,-1 0 1 1,-1 0-1 0,-1 0 1-1,-3 0-1 1,-3 0 180 0,7 0 0-1,-4 0 0 1,-2 0 0 0,-1 0 0-1,0 0 0 1,0 0 0 0,2 0 0-1,2 0-88 1,-1 0 0 0,2 0 0-1,2 0 0 1,1 0 0 0,1 0 0-1,-1 0 1 1,-2 0-1 0,-2 0 0-1,-3 0 0 1,-5 0 88-1,17 0 0 1,-6 0 0 0,-4 0 0-1,-2 0 0 1,-1 0-366 0,1 0 1-1,-2 0 0 1,-2 0-1 0,1 0 366-1,2 0 0 1,0 0 0 0,-1 0 0-1,0 0 405 1,10 0 0 0,-2 0 0-1,-2 0-405 1,-13 0 0 0,-1 0 0-1,-3 0 582 1,15 0 0 0,-8 0 1-1,-7 0-1 1,-24 0 0 0</inkml:trace>
    </iact:actionData>
  </iact:action>
  <iact:action type="add" startTime="14300">
    <iact:property name="dataType"/>
    <iact:actionData xml:id="d1">
      <inkml:trace xmlns:inkml="http://www.w3.org/2003/InkML" xml:id="stk1" contextRef="#ctx0" brushRef="#br0">6854 15065 23910 0,'54'0'0'4,"0"0"0"0,1 0 0 1,-1 0 0-1,0 0 0 0,-1 0 0 1,-3 0 0-1,2 0 0 0,2 0 0 1,6 0-1093-1,-6 0 1 0,4 0 0 1,4 0 0-1,3 0-1 1,1 0 1-1,1 0 0 0,-2 0 0 1,-1 0-1-1,-3 0 971 0,-1 0 0 1,-3 0 0-1,0 0 0 0,-1 0 0 1,0 0 1-1,0 0-1 1,3 0 0-1,1 0-87 0,-3 0 1 1,3 0 0-1,1 0 0 0,1 0 0 1,1 0 0-1,-1 0 0 0,0 0 0 1,-1 0 0-1,-2 0 0 0,-1 0 208 1,2 0 0-1,-2 0 0 1,0 0 0-1,-2 0 0 0,0 0 0 1,-1 0 0-1,0 0 0 0,0 0-122 1,2 0 0-1,0 0 0 0,-1 0 0 1,0 0 0-1,0 0 1 1,-1 0-1-1,1 0 122 0,8 0 0 1,0 0 0-1,0 0 0 0,0 0 0 1,-1 0 0-1,-1 0-330 0,-6 0 0 1,-1 0 0-1,0 0 1 0,-1 0-1 1,0 0 0-1,0 0 330 1,0 0 0-1,0 0 0 0,0 0 0 1,-1 0 0-1,0 0 0 0,-2 0 137 1,14 0 1-1,-2 0 0 0,-1 0 0 1,-1 0-138-1,-6 0 0 1,-1 0 0-1,-1 0 0 0,-1 0 261 1,-2 0 1-1,0 0-1 0,-2 0 1 1,-2 0-262-1,2 0 0 0,-3 0 0 1,2 0 660-1,5 0 1 0,1 0 0 1,-4 0-661-1,-1 0 0 1,-2 0 0-1,-2 1 0 0,2 0 0 1,-1-3 351-1,14-7 0 0,-1-2-351 1,-5 11 0-1,3-5 0 0,-11-9 0 1,3-8 0-1,0-2 0 1,-5 5 1014-1,9 2 0 0,1-1-1014 1,-4-5 0-1,7-5 0 0,0-1 0 1,-3 5 0-1,-4 6 0 0,-2 3 0 1,1-2-1-1,-2-3 1 0,1-2 0 1,0-1-1-1,-2 3 1 1,2 3 0-1,-2 2 0 0,-1-3 0 1,-2-6 0-1,-1-4 0 0,1 6-192 1,0 10 0-1,2 6 0 0,-1-4 192 1,2-5 0-1,-1-4 0 1,2 4 0-1,-1 5 0 0,0 3 0 1,4-1 0-1,2-2 0 0,4-1 0 1,1-1 0-1,-4 0 0 0,3-3 0 1,-4-1 0-1,2 2 0 0,7 5 0 1,0 3 0-1,-3-4 0 1,5-9 0-1,-5-1 963 0,-11 8 1 1,-2-1-964-1,10-10 0 0,2 1 0 1,1 9 0-1,0 1 0 0,0-8 0 1,1 0-259-1,-3 7 1 1,-1 1 258-1,-8 1 0 0,-2-2 0 1,0-7 0-1,1 0 0 0,5 8 0 1,0-1 0-1,-4-8 0 0,0-3 0 1,4 2 0-1,-1-1 0 0,-3 1 0 1,-2 0 0-1,2 0 0 1,-2-1 0-1,-9 1 0 0,-1-1 0 1,-1 0 0-1,-1 1 0 0,1 11 0 1,-1-3 782-1,2-25 0 0,1-1-782 1,0 23 0-1,0-1 0 1,-6-15 0-1,-1-8 0 0,0 1 0 1,7-7 0-1,-1 2 0 0,3 2 0 1,-4 1 0-1,-9-1 0 0,-3 1 913 1,1 9 0-1,-4 2-913 0,-13-19 2125 1,15 5-2125-1,-20 5 1844 1,0 16-1844-1,0-1 1332 0,-20-15-1332 1,-5 35 552-1,0-35-552 0,-15 35 0 1,35-35 0-1,-35 35 0 0,15-34 0 1,-19 14 0-1,-1-20-929 1,0 0 929-1,0 0 0 0,14 14 0 1,-3-2-1133-1,1-6 0 0,-3-2 1133 1,1 10 0-1,-3 0 0 0,1 1 0 1,-9-9 0-1,-2-1 0 0,11 9 0 1,-4-1 0-1,-1 0 0 1,2 2 0-1,-1 3 0 0,1 2 0 1,0-2-848-1,-9-9 1 0,0-2-1 1,2 2 848-1,10 7 0 0,2 0 0 1,-2 3 0-1,-6 1 0 1,-1 2 0-1,1 1-490 0,-8-3 1 1,3 0 489-1,3-8 0 0,0 6 182 1,3 24 1-1,4 2-183 0,9-19 1853 1,-16 20-1853-1,5 0 0 0,15 0 2756 1,0 0-2756-1,-15 0 1333 1,35 0-1333-1,-34 0 410 0,14 0-410 1,0 0 0-1,5 0 0 0,20 0 0 1,-20 0 0-1,15 0 0 0,-15 0 0 1,20 0 0-1,0 0 0 1</inkml:trace>
    </iact:actionData>
  </iact:action>
  <iact:action type="add" startTime="16351">
    <iact:property name="dataType"/>
    <iact:actionData xml:id="d2">
      <inkml:trace xmlns:inkml="http://www.w3.org/2003/InkML" xml:id="stk2" contextRef="#ctx0" brushRef="#br0">12812 5551 24575 0,'45'0'0'5,"0"0"0"0,-4 0 0 1,2 0 0-1,-6 0 0 0,1 0-594 1,19 0 1-1,5 0 593 0,-12 0 0 1,2 0 0-1,-2 0-1182 0,-5 0 1 1,-1 0 0-1,2 0 1181 0,10 0 0 1,3 0 0-1,0 0 0 1,0 0 0-1,0 0 0 0,-3 0 0 1,5 0 0-1,2 0 0 0,-10 0 0 1,5 0 0-1,0 0 0 0,-8 0 0 1,5 0 0-1,-3 0 0 0,1 0 0 1,3 0 0-1,-5 0-58 1,-5 0 0-1,-3 0 58 0,2 0 0 1,0 0 0-1,9 0 0 0,1 0 0 1,-7 0 0-1,-1 0 0 0,7-2 0 1,1 4 0-1,-12 9 0 0,1 4 0 1,-1-1 0-1,17 1 0 1,-1 0 0-1,-17-2 0 0,0 2 0 1,-1 2 0-1,14 13 0 0,-3 0 0 1,-11-16 0-1,-3 1 0 0,-2 17 0 1,-2 1 0-1,-1-10 0 0,-1-1 0 1,13 23 0-1,-1-1 0 1,-19-19 473-1,-5 15-473 0,-20-35 2931 1,0 35-2931-1,0-15 0 0,10 5 0 1,0 4 0-1,-7 0 0 0,-1 2 0 1,7 8 0-1,2 2 22 0,0-2 1 1,-2 1-23-1,-8 5 0 1,3 0 0-1,16-4 0 0,0 0 0 1,-18 3 0-1,1 1 0 0,17-5 0 1,0 0 0-1,-18 0 0 0,0-1 0 1,19-8 0-1,-2-2-80 0,-16-1 1 1,-1-1 79-1,18 12 0 1,-20 1 0-1,0-20 0 0,0 15 0 1,0-35 1386-1,0 15-1386 0,0-20 171 1,0 20-171-1,0-16 0 0,0 36 0 1,0-15 0-1,0 20 0 0,0 0 0 1,0-14 0-1,0 2 0 1,0 27 0-1,-8-18 0 0,-4 3 0 1,2 14 0-1,-5 2-1077 0,-4-21 1 1,-4-1 0-1,1 1 1076 0,-3 18 0 1,0-2 0-1,-7-2 0 0,-1-3-468 1,10-16 1-1,1-1 467 1,0 1 0-1,0 0 0 0,0 8 0 1,-1-1 0-1,1-17 0 0,-1-1 0 1,1 10 0-1,-1-3 0 0,-22-6 0 1,1 15 0-1,-11-15-541 0,32 2 0 1,-1 0 541-1,-13-12 0 1,-1-2 0-1,3 12 0 0,0-1 0 1,0-11 0-1,1-1 0 0,1 11 0 1,1-1 0-1,1-10 0 0,-3 1 0 1,-19 17 0-1,-3 0 0 0,7-15 0 1,-2-1 0-1,4 6 0 1,-2 3 0-1,-4-1 0 0,3-5 0 1,-3-1 0-1,1 0 0 0,3 0 40 1,2 1 0-1,4 0 1 0,-4-1-41 1,-1-4 0-1,-2-1 0 0,-2 0 0 1,3-1 0-1,-10 4 0 0,2 0 0 1,3-2 0-1,0 1 0 1,-1-1 0-1,11-6 0 0,-5 0 0 1,-1-1 0-1,4 3 0 0,-2 5 0 1,4 2 0-1,1-3 0 0,-7-9 0 1,1-1 0-1,-10 8 0 0,3 0 276 1,21-10 1-1,3 0-277 1,-28 0 0-1,28 0 0 0,0 0 0 1,-1 0 0-1,1 0 0 0,-18 0 0 1,18 0 0-1,0 0 0 0,-13 0 0 1,13 0 0-1,-1 0 0 0,-17 0 0 1,18 0 0-1,0 0 0 1,-13 0 0-1,13 0 0 0,-1 0 0 1,-17 0 0-1,8-8 0 0,0-4 0 1,-8-13 0-1,18 12 0 0,-1 1 0 1,1 3 0-1,0-2 0 0,-8-10 0 1,0 2 0-1,3 15 0 1,2-2 0-1,-3-22 0 0,1-3 0 1,3 18 0-1,3 1 0 0,1-33 0 1,1 23 0-1,-1-1 0 0,6-8 0 1,3-3 0-1,-9-15 0 0,0 18 0 1,0-3 0-1,17-12 0 1,1-2 0-1,-9 9 0 0,-2 0-674 1,6 2 1-1,2-4-1 0,2 0 674 1,0-15 0-1,1 3 0 0,-8 6 0 1,0-1 0-1,10 6 0 0,3-2 0 1,-1 1 0-1,-3-14 0 1,-3-1-37-1,-4 3 1 0,-4-4 0 1,3-1 36-1,7 2 0 0,4-1 0 1,-2 2 0-1,-5 8 0 0,-1 2 0 1,2 1 0-1,1-15 0 0,6 8 2450 1,7 8-2450-1,0 20 333 1,0-15-333-1,0-4 0 0,20-6 0 1,-19 9 0-1,3-3 0 0,17 9 0 1,10-2 0-1,-3 0-144 0,-10-2 0 1,-2-1 0-1,4 0 144 0,13-5 0 1,6 1 0-1,-1-2 0 1,-10 7 0-1,-1-3 0 0,0 1 0 1,0 4 0-1,5 2 0 0,0 3 0 1,-1-3 0-1,-1-11 0 0,-2-3 0 1,4 5-205-1,2 11 0 0,3 4 0 1,-4 1 205-1,-1-8 0 1,1 3-318-1,20-3 0 0,1 7 318 1,-23 16 0-1,-2 1 0 0,3-8 0 1,0 0 0-1,1 8 0 0,-1-1 0 1,-8-8 0-1,2-2 0 0,15-1 0 1,2 3 0-1,-7 8 0 1,-2 1 0-1,1-8 0 0,0 0 0 1,-3 7 0-1,0 1 0 0,2 0 0 1,-3-1 0-1,-1-6 0 0,30 19 2621 1,-35 0-2621-1,-1 0 535 0,-4 0 0 1,-20 0 0-1,0 0 1 1</inkml:trace>
    </iact:actionData>
  </iact:action>
  <iact:action type="add" startTime="24825">
    <iact:property name="dataType"/>
    <iact:actionData xml:id="d3">
      <inkml:trace xmlns:inkml="http://www.w3.org/2003/InkML" xml:id="stk3" contextRef="#ctx0" brushRef="#br0">20920 8059 24575 0,'33'0'0'22,"-1"0"0"1,18 0 0-1,-18 0 0 1,0 0 0-1,13 0 0 1,-13 0 0-1,1 0 0 1,17 0 0-1,-5 0 0 1,-26 0 0-1,1 0 0 1,5 0 0-1,20 0 0 1,-13 0 0 0,1 0 0-1,17 0-304 1,-9 0 1-1,2 0 303 1,17 0 0-1,-26 0 0 1,-1 0 0-1,22 0 0 1,-10 0 0-1,-20 0 0 1,-6 0 0-1,-19 0 0 1,0 0 0 0</inkml:trace>
    </iact:actionData>
  </iact:action>
  <iact:action type="add" startTime="28513">
    <iact:property name="dataType"/>
    <iact:actionData xml:id="d4">
      <inkml:trace xmlns:inkml="http://www.w3.org/2003/InkML" xml:id="stk4" contextRef="#ctx0" brushRef="#br0">23295 8887 24575 0,'0'0'0'73</inkml:trace>
    </iact:actionData>
  </iact:action>
  <iact:action type="add" startTime="28979">
    <iact:property name="dataType"/>
    <iact:actionData xml:id="d5">
      <inkml:trace xmlns:inkml="http://www.w3.org/2003/InkML" xml:id="stk5" contextRef="#ctx0" brushRef="#br0">23115 8797 24575 0,'45'0'0'3,"0"0"0"1,-4 0 0-1,2 0 0 1,2 0 0-1,10 0 0 1,3 0 0-1,9 0-1405 1,-17 0 1 0,7 0 0-1,4 0-1 1,3 0 1-1,0 0 0 1,-2 0-1-1,-2 0 1156 1,0 0 1-1,-2 0 0 1,0 0 0 0,0 0-1-1,2 0 1 1,2 0-22-1,-5 0 1 1,3 0 0-1,2 0-1 1,0 0 1-1,1 0 0 1,-2 0 0 0,-3 0-1-1,-4 0 270 1,9 0 0-1,-4 0 0 1,-3 0 0-1,0 0 0 1,2 0 0-1,1 0 0 1,2 0 0 0,-1 0 0-1,-2 0 0 1,-3 0 128-1,-3 0 0 1,-4 0 1-1,-1 0-1 1,0 0-128-1,3 0 0 1,0 0 0 0,-1 0 0-1,-4 0-326 1,18 0 1-1,-6 0 325 1,-9 0 0-1,-4 0 850 1,16 0 1-1,-20 0-1 1,-40 0 1 0</inkml:trace>
    </iact:actionData>
  </iact:action>
  <iact:action type="add" startTime="29867">
    <iact:property name="dataType"/>
    <iact:actionData xml:id="d6">
      <inkml:trace xmlns:inkml="http://www.w3.org/2003/InkML" xml:id="stk6" contextRef="#ctx0" brushRef="#br0">28200 8753 24575 0,'55'0'0'7,"-1"0"0"1,1 0 0 0,-5 0 0-1,-1 0 0 1,6 0 0 0,1 0 0-1,6 0 0 1,3 0 0 0,1 0 0-1,-1 0-1967 1,-2 0 1 0,1 0 0-1,0 0 0 1,-1 0 0 0,-1 0 1668-1,-6 0 0 1,0 0 0 0,-1 0 0-1,-1 0 0 1,-1 0 298 0,8 0 0-1,-1 0 0 1,-1 0 0 0,0 0 99-1,-4 0 1 1,1 0 0 0,-4 0 0-1,-6 0-100 1,0 0 0 0,-3 0 334-1,7 0 0 1,4 0 1 0,-13 0-1-1,-16 0 0 1,-5 0 1 0</inkml:trace>
    </iact:actionData>
  </iact:action>
  <iact:action type="add" startTime="33579">
    <iact:property name="dataType"/>
    <iact:actionData xml:id="d7">
      <inkml:trace xmlns:inkml="http://www.w3.org/2003/InkML" xml:id="stk7" contextRef="#ctx0" brushRef="#br0">19039 9849 24575 0,'55'0'0'8,"-1"0"0"1,0 0 0 0,5 0 0 0,3 0 0 0,-6 0 0 0,4 0 0 0,1 0 0 0,0 0-1967 0,-7 0 1 0,1 0 0-1,0 0 0 1,1 0 0 0,1 0 1754 0,2 0 0 0,0 0 0 0,1 0 0 0,0 0 0 0,0 0 212 0,0 0 0 0,1 0 0-1,-1 0 0 1,0 0 0 0,-2 0 0 0,-5 0 0 0,-1 0 0 0,-1 0 0 0,0 0 0 0,-2 0 2 0,7 0 1 0,-2 0 0 0,-1 0 0-1,-2 0-3 1,9 0 0 0,-2 0 0 0,-6 0 0 0,-3 0 0 0,-4 0 0 0,0 0 0 0,0 0 962 0,0 0 0 0,-6 0-962-1,-9 0 0 1,30 0 0 0,-55 0 5318 0,15 0-5318 0,-20 0 3500 0,0 0-3500 0,0-19 34 0,0 14 1 0,0-15-1 0,0 20 1 0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566">
    <iact:property name="dataType"/>
    <iact:actionData xml:id="d0">
      <inkml:trace xmlns:inkml="http://www.w3.org/2003/InkML" xml:id="stk0" contextRef="#ctx0" brushRef="#br0">1053 9894 24575 0,'45'0'0'10,"-1"0"0"1,-12 0 0 0,1 0 0 0,17 0-1517 0,-9 0 0-1,2 0 1517 1,2 0 0 0,0 0 0 0,-3 0 0 0,1 0 0 0,10 0 0-1,1 0 0 1,-13 0 0 0,-3 0 250 0,-2 0 1 0,-2 0-251 0,-1 0 0-1,-1 0 602 1,12 0-602 0,-19 0 0 0,-5 0 0 0,-20 0 0 0</inkml:trace>
    </iact:actionData>
  </iact:action>
  <iact:action type="add" startTime="9541">
    <iact:property name="dataType"/>
    <iact:actionData xml:id="d1">
      <inkml:trace xmlns:inkml="http://www.w3.org/2003/InkML" xml:id="stk1" contextRef="#ctx0" brushRef="#br0">1098 10902 24575 0,'24'0'0'11,"16"0"0"0,-15 0 0 1,5 0 0-1,5 0-552 1,0 0 1-1,0 0 551 1,-1 0 0-1,1 0 0 0,7 0 0 1,1 0-1033-1,6 0 1 1,1 0 1032-1,-1 0 0 1,-1 0 0-1,3 0 0 0,-2 0-73 1,-6 0 0-1,-1 0 73 1,-7 0 0-1,-1 0-135 1,1 0 0-1,0 0 135 0,-2 0 0 1,-1 0 0-1,12 0 474 1,1 0-474-1,0 0 1795 1,-20 0-1795-1,15 0 992 0,-35 0-992 1,15 0 80-1,0 19 1 1,-15-14 0-1,14 15 0 1</inkml:trace>
    </iact:actionData>
  </iact:action>
  <iact:action type="add" startTime="20387">
    <iact:property name="dataType"/>
    <iact:actionData xml:id="d2">
      <inkml:trace xmlns:inkml="http://www.w3.org/2003/InkML" xml:id="stk2" contextRef="#ctx0" brushRef="#br0">918 12312 24575 0,'45'0'0'7,"-13"0"0"1,1 0 0 0,1 0 0 0,2 0-1708 0,7 0 1-1,3 0 1707 1,8 0 0 0,2 0 0 0,-1 0 0 0,4 0 0-1,-11 1 0 1,5 0 0 0,1-1 0 0,-5-2 0 0,-3-4 0 0,-4-2 0-1,2 2 0 1,17 4 0 0,3 2 0 0,-10-3 0 0,-17-7 0-1,-4 0 0 1,1 9 0 0,-3 2 0 0,-6-1 0 0,-6 0 0 0</inkml:trace>
    </iact:actionData>
  </iact:action>
  <iact:action type="add" startTime="21121">
    <iact:property name="dataType"/>
    <iact:actionData xml:id="d3">
      <inkml:trace xmlns:inkml="http://www.w3.org/2003/InkML" xml:id="stk3" contextRef="#ctx0" brushRef="#br0">1053 13565 24575 0,'25'0'0'10,"13"0"0"1,3 0 0-1,14 0 0 1,-11 0 0-1,2 0 0 1,-1 0 0-1,-6 0 0 1,-9 0 0-1,9 0 0 1,2 0 0-1,-1 0 0 1,-8 0 0-1,3 0 0 1,19 0 0-1,-9 0 0 1,0 0 0-1,0 0 0 1,0 0 0-1,-20 0 0 1,14 0 0-1,-14 0 0 1,0 0 0-1,15 0 0 1,-35 0 0-1,15 0 0 1,0 0 0-1,-15 0 0 1,15 0 0-1,-20-29 0 1,0 21 0-1,0-22 0 1</inkml:trace>
    </iact:actionData>
  </iact:action>
  <iact:action type="add" startTime="41450">
    <iact:property name="dataType"/>
    <iact:actionData xml:id="d4">
      <inkml:trace xmlns:inkml="http://www.w3.org/2003/InkML" xml:id="stk4" contextRef="#ctx0" brushRef="#br0">30753 8462 24575 0,'45'0'0'8,"0"0"0"1,0 0 0 0,-14 0 0 0,2 0-898 0,1 0 0 0,2 0 898 0,7 0 0 0,4 0-656 0,13 0 0 0,-1 0 656 0,-20 0 0 0,-1 0 0 0,21 0 0 0,-3 0 0-1,-6 0-142 1,-9 0 1 0,2 0 141 0,-8 0 0 0,0 0 0 0,9 0 0 0,1 0 0 0,0 0 0 0,0 0 0 0,0 0 0 0,0 0 0 0,-10 0 0 0,-1 0-204 0,-1 0 1 0,-1 0 203-1,1 0 0 1,-1 0 0 0,17 0 0 0,-1-2 0 0,-1 4 0 0,5 17 0 0,-14-16 0 0,-1-1 0 0,8 18 0 0,0 10 0 0,-1-2 783 0,-19 6-783 0,15-14 1409 0,-35 0-1409-1,35-15 1118 1,-35 15-1118 0,35 0 488 0,-35-15-488 0,15 15 0 0,-20-20 0 0,0 20 0 0,0-15 0 0,0 15 0 0,0-1 0 0,0-14 0 0,19 35 0 0,-14-15 0 0,15 20 0 0,-9-14 0-1,-2 3-299 1,-6 0 0 0,-1 1 299 0,7 0 0 0,2 0 0 0,0 7 0 0,-2 0 0 0,-7-6 0 0,1-2 0 0,6 1 0 0,2 0 0 0,0-2 0 0,-2-2-58 0,-4 14 58-1,15 10 0 1,-20-8 0 0,0-12 0 0,0-15 0 0,0 0 0 0,-20-15 597 0,15 15-597 0,-35-20 59 0,35 0-59 0,-35 0 0 0,35 0 0 0,-35 0 0 0,35 0 0 0,-34 0 0 0,14 0 0-1,0 0 0 1,-15 0 0 0,35 0 0 0,-35 0 0 0,35 0 0 0,-35 0 0 0,16 0 0 0,-21 0 0 0,0 0 0 0,-10 0 0 0,28 0 0 0,-3 0 0 0,10 0 0 0,15-20 0-1,-35 15 0 1,35-15 0 0,-40 16 0 0,-9 8 0 0,14-4-911 0,-3 5 1 0,-9 3-1 0,3-1 911 0,0-6 0 0,3 3 0 0,-10 14 0 0,-2 4 0 0,14-13 0 0,0-2 0 0,2 1 0-1,-6 4 0 1,2 1-465 0,-10 7 0 0,2 0 465 0,13-7 0 0,2-1 0 0,5 0 0 0,1 1 0 0,-22 7 0 0,31-20 0 0,4 0 0 0,20 0 0 0,0 0 0 0,0 0 0 0</inkml:trace>
    </iact:actionData>
  </iact:action>
  <iact:action type="add" startTime="43733">
    <iact:property name="dataType"/>
    <iact:actionData xml:id="d5">
      <inkml:trace xmlns:inkml="http://www.w3.org/2003/InkML" xml:id="stk5" contextRef="#ctx0" brushRef="#br0">23071 9424 24575 0,'44'0'0'8,"-3"0"0"1,3 0 0 0,-8 0 0 0,3 0-1541 0,1 0 1-1,5 0 0 1,-1 0 1540 0,13 0 0 0,1 0 0 0,-15 0 0-1,2 0 0 1,1 0 0 0,2 0 0 0,0 0 0 0,0 0 0-1,-1 0 0 1,-1 0 0 0,-2 0 0 0,9 0 0 0,-1 0-309-1,11 0 0 1,-2 0 309 0,-23 0 0 0,-1 0 0 0,8 0 0-1,-1 0 0 1,-11 0 0 0,-1 0 276 0,0 0 0 0,1 0-276-1,1 0 0 1,1 0 0 0,0 0 0 0,0 0 0 0,7 0 0-1,1 0 0 1,-8 0 0 0,-1 0 0 0,6 0 0 0,0 0 0 0,-6 0 0-1,-1 0 0 1,22 0 0 0,-10 0 0 0,0 0 2154 0,-1 0-2154-1,-19 0 1764 1,15 0-1764 0,-35 0 769 0,15 0-769 0,0 0 0-1,-15 0 0 1,15 0 0 0,-20 0 0 0,20 0 0 0,-15 0 0-1,35 0 0 1,-16 0 0 0,21 0 0 0,0 0 0 0,-13 0 0-1,1 0 0 1,16 0-332 0,-6 0 1 0,-1 0 331 0,8 0 0-1,-18 10 0 1,1 0 0 0,11-5 0 0,-19 15 0 0,15-20 0-1,-35 0 0 1,15 0 0 0,-20 0 0 0,0 0 0 0,0 0 0 0</inkml:trace>
    </iact:actionData>
  </iact:action>
  <iact:action type="add" startTime="53812">
    <iact:property name="dataType"/>
    <iact:actionData xml:id="d6">
      <inkml:trace xmlns:inkml="http://www.w3.org/2003/InkML" xml:id="stk6" contextRef="#ctx0" brushRef="#br0">21458 16207 24575 0,'55'0'0'3,"-16"0"0"1,2 0 0 0,8 0 0 0,1 0-1754 0,-6 0 1 0,0 0 0 0,0 0 1753 0,-2 0 0 0,1 0 0 0,1 0-865 0,12 0 0 0,3 0 1 0,0 0 864 0,0 0 0 0,0 0 0 0,3 0-675 0,-7 0 1 0,3 0-1 0,2 0 1 0,0 0 674 0,-7 0 0 0,1 0 0 0,1 0 0 0,0 0 0 0,0 0-658 0,1 0 0 0,0 0 1 0,0 0-1 0,1 0 0 0,1 0 658 0,-4 0 0 0,1 0 0 0,1 0 0 0,0 0 0 0,-1 0 0 0,-2 0-216 0,2 0 1 0,-1 0 0 0,0 0 0 0,-2 0 0 0,2 0 215 0,-1 0 0 0,1 0 0 0,-1 0 0 0,0 0 0 0,0 0 0 0,10 0 0 0,0 0 0 0,-1 0 0 0,-1 0 0 0,-8 0 0 0,0 0 0 0,-2 0 0 0,1 0 0 0,0 0 0 0,0 0 0 0,-1 0 0 0,-2 0 0 0,7 0 0 0,-2 0 0 0,0 0 96 0,5 0 0 0,-1 0 0 0,-3 0-96 0,3 0 0 0,-2 0 848 0,-5 0 1 0,1 0 0 0,-5 0-849 0,-10 0 0 0,-5 0 0 0,13 0 0 0,-25 0 0 0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0883">
    <iact:property name="dataType"/>
    <iact:actionData xml:id="d0">
      <inkml:trace xmlns:inkml="http://www.w3.org/2003/InkML" xml:id="stk0" contextRef="#ctx0" brushRef="#br0">11177 6827 24575 0,'0'-24'0'5,"60"4"0"0,-26 20 0 1,16 0 0-1,5 0-2074 1,-10 0 0-1,0 0 2074 1,9 0 0-1,6 0 0 1,-6 0 0-1,4 0 0 0,4 0 0 1,-11 0 0-1,4 0 0 1,2 0 0-1,-1 0 0 1,-1 0-1189-1,7 0 0 1,-1 0 1-1,0 0-1 0,1 0 1189 1,-4 0 0-1,3 0 0 1,-1 0 0-1,0 0 0 1,-5 0 0-1,-2 0 0 1,-3 0 0-1,-2 0 0 0,0 0-323 1,12 0 0-1,0 0 0 1,-1 0 323-1,4 0 0 1,1 0 0-1,-1 0 0 1,-3 0 0-1,1 0 0 0,-1 0 0 1,2 0 0-1,1 0 0 1,1 0 0-1,-10 0 0 1,2 0 0-1,-1 0 0 1,-1 0 0-1,10-1 0 1,-1 0 0-1,-1 3 0 0,-12 2 0 1,0 1 0-1,0 1 0 1,0-1 0-1,11-4 0 1,0-1 0-1,1 4 0 1,-12 3 0-1,1 4 0 0,0 1 0 1,-2-3 0-1,12 0 0 1,-1-2 0-1,-1 2 0 1,0 5 0-1,1 2 0 1,-5-1-359-1,3-4 1 0,-7 3 358 1,-15 7 0-1,-2-2 592 1,0-17 1-1,-3 1-593 1,-6 17 4095-1,14-20-4095 1,-34 0 3924-1,15 0-3924 0,0 0 1385 1,5 0-1385-1,20 0 0 1,10 0-525-1,-22 0 1 1,1 0 524-1,26 0 0 1,-16 0 0-1,-24 0 0 1</inkml:trace>
    </iact:actionData>
  </iact:action>
  <iact:action type="add" startTime="18050">
    <iact:property name="dataType"/>
    <iact:actionData xml:id="d1">
      <inkml:trace xmlns:inkml="http://www.w3.org/2003/InkML" xml:id="stk1" contextRef="#ctx0" brushRef="#br0">18770 7141 24575 0,'55'0'0'6,"0"0"0"1,1 0 0 0,2 0 0-1,-14 0 0 1,1 0 0 0,0 0-2486-1,5 0 1 1,2 0-1 0,1 0 2486 0,7 0 0-1,2 0 0 1,5 0 0 0,-13 0 0-1,3 0 0 1,2 0 0 0,0 0 0-1,-2 0 0 1,7 0 0 0,-2 0 0 0,1 0 0-1,2 0 0 1,-14 0 0 0,3 0 0-1,0 0 0 1,1 0 0 0,0 0 0 0,-1 0 0-1,3 0 0 1,1 0 0 0,-1 0 0-1,1 0 0 1,-3 0 0 0,-1 0-885-1,11 0 0 1,-4 0 0 0,0 0 1 0,3 0 884-1,-10 0 0 1,3 0 0 0,2 0 0-1,-1 0 0 1,-5 0 0 0,-5 0 0 0,4 0 0-1,-7 0 0 1,2 0 370 0,9 0 1-1,1 0 0 1,-1 0-371 0,-6 0 0-1,-2 0 0 1,-1 0 0 0,14 0 0 0,0 0 0-1,-14 0 0 1,0 0 0 0,-2 0 0-1,1 0 0 1,-2 0 0 0,1 0 0 0,-1 0-71-1,-8 0 0 1,-2 0 71 0,0 0 0-1,-3 0 2656 1,-7 0-2656 0,16 0 5513-1,-35 0-5513 1,15 0 1582 0,0 0-1582 0,-15 0 275-1,15 0-275 1,-20 0 0 0,-20 0 0-1,-5 0 0 1,0 0 0 0,5 0 0 0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3398">
    <iact:property name="dataType"/>
    <iact:actionData xml:id="d0">
      <inkml:trace xmlns:inkml="http://www.w3.org/2003/InkML" xml:id="stk0" contextRef="#ctx0" brushRef="#br0">5577 9536 24575 0,'33'0'0'9,"-1"0"0"0,-2 0 0 0,30 0 0 1,-24 0 0-1,2 0 0 0,0 0 0 0,1 0 0 1,10 0 0-1,2 0 0 0,12 0 0 1,-2 0-1188-1,-21 0 0 0,0 0 1188 0,1 0 0 1,3 0 0-1,0 0 0 0,0 0 0 0,0 0 0 1,-2 0 0-1,8 0 0 0,-1 0 0 1,-6 0 0-1,2 0 0 0,-3 0-256 0,3 0 0 1,-1 0 256-1,7 0 0 0,-2 0 0 0,-12 0 0 1,-2 0 0-1,4 0 0 0,-3 0 0 1,9 0 0-1,-1 0 0 0,1 0 0 0,-13 0 0 1,1 0 0-1,17 0 0 0,-18 0 0 0,0 0 0 1,13 0 1704-1,0 0-1704 0,-20 0 1184 1,15 0-1184-1,-35 0 0 0,15 0 0 0,-1 0 0 1,-14 0 0-1,15 0 0 0,-20 0 0 1</inkml:trace>
    </iact:actionData>
  </iact:action>
  <iact:action type="add" startTime="30277">
    <iact:property name="dataType"/>
    <iact:actionData xml:id="d1">
      <inkml:trace xmlns:inkml="http://www.w3.org/2003/InkML" xml:id="stk1" contextRef="#ctx0" brushRef="#br0">12767 9469 24575 0,'51'0'0'5,"0"0"0"0,0 0 0 1,0 0 0-1,1 0 0 0,1 0 0 1,-1 0 0-1,0 0 0 0,-1 0 0 1,0 0 0-1,-1 0 0 0,0 0-1594 1,-1 0 1-1,0 0-1 0,0 0 1 1,-2 0 1593-1,7 0 0 0,-2 0 0 1,1 0 0-1,8 0 0 0,1 0 0 1,4 0 0-1,-10 0 0 0,3 0 0 1,2 0 0-1,-1 0 0 0,-2 0 0 1,2 0 0-1,-3 0 0 0,1 0 0 1,4 0 0-1,-7 0 0 0,4 0 0 1,2 0 0-1,0 0 0 0,-3 0 0 1,-4 0 0-1,1 0 0 0,-3 0 0 1,-3 0 0-1,-1 0 0 0,9 0 0 1,-3 0 0-1,-1 0 0 0,-4 0 0 1,-1 0 0-1,-5 0 373 0,-7 0 0 1,-5 0 1-1,4 0-1 0,-15 0 1 1</inkml:trace>
    </iact:actionData>
  </iact:action>
  <iact:action type="add" startTime="31110">
    <iact:property name="dataType"/>
    <iact:actionData xml:id="d2">
      <inkml:trace xmlns:inkml="http://www.w3.org/2003/InkML" xml:id="stk2" contextRef="#ctx0" brushRef="#br0">17023 9760 24575 0,'63'0'0'3,"0"0"0"1,0 0 0-1,-9 0 0 1,0 0 0-1,3 0 0 1,2 0-1784-1,0 0 0 1,1 0 0-1,3 0 0 1,2 0 1-1,4 0 1783 1,-17 0 0-1,3 0 0 1,3 0 0 0,1 0 0-1,0 0 0 1,1 0 0-1,-1 0 0 1,-2 0 0-1,-3 0-564 1,12 0 1-1,-4 0-1 1,-1 0 1-1,0 0 0 1,3 0-1-1,3 0 564 1,-10 0 0-1,4 0 0 1,1 0 0 0,2 0 0-1,0 0 0 1,0 0 0-1,-1 0 0 1,-1 0 0-1,-2 0 0 1,-2 0 0-1,0 0 0 1,-2 0 0-1,0 0 0 1,-1 0 0-1,-1 0 0 1,1 0 0-1,-1 0-186 1,2 0 1 0,0 0-1-1,0 0 1 1,-1 0-1-1,0 0 1 1,0 0-1-1,0 0 186 1,0 0 0-1,1 0 0 1,0 0 0-1,0 0 0 1,-1 0 0-1,-2 0 0 1,-1 0-199-1,9 0 1 1,-2 0-1 0,-2 0 1-1,-1 0-1 1,-3 0 199-1,0 0 0 1,-2 0 0-1,-3 0 0 1,-1 0 0-1,9 0 0 1,-3 0 0-1,-7 0 0 1,-10 0 0-1,-8 0 0 1,-8 0 0 0</inkml:trace>
    </iact:actionData>
  </iact:action>
  <iact:action type="add" startTime="31952">
    <iact:property name="dataType"/>
    <iact:actionData xml:id="d3">
      <inkml:trace xmlns:inkml="http://www.w3.org/2003/InkML" xml:id="stk3" contextRef="#ctx0" brushRef="#br0">24482 9715 24575 0,'32'0'0'3,"0"0"0"0,2 0 0 1,2 0 0-1,5 0 0 1,8 0-2442-1,3 0 1 1,10 0 0-1,2 0 0 0,-3 0 2441 1,1 0 0-1,-2 0 0 1,4 0 0-1,-10 0 0 1,3 0 0-1,3 0 0 1,1 0 0-1,1 0-490 0,-3 0 0 1,3 0 0-1,1 0 1 1,0 0-1-1,-2 0 0 1,-1 0 490-1,2 0 0 1,-3 0 0-1,-1 0 0 0,2 0 0 1,2 0-92-1,-7 0 1 1,2 0 0-1,2 0-1 1,0 0 1-1,1 0 0 1,-1 0-1-1,1 0 92 0,0 0 0 1,2 0 0-1,0 0 0 1,-1 0 0-1,-1 0 0 1,-2 0 0-1,-3 0 0 0,-1 0 0 1,-3 0 0-1,-2 0 0 1,0 0 0-1,4 0 0 1,3 0 0-1,4 0 0 1,1 0 0-1,-1 0 0 0,-2 0 0 1,-5 0 0-1,2 0 0 1,-4 0 0-1,-3 0 0 1,2 0 0-1,4 0 0 1,0 0 0-1,0 0 0 0,-2 0-329 1,11 0 1-1,-2 0-1 1,-3 0 329-1,-8 0 0 1,-2 0 0-1,-1 0 0 1,-3 0 0-1,1 0 0 0,-5 0 0 1,-1 0 0-1,-3 0 470 1,-1 0 1-1,-6 0-1 1,-9 0 1-1,-20 0 0 1</inkml:trace>
    </iact:actionData>
  </iact:action>
  <iact:action type="add" startTime="33081">
    <iact:property name="dataType"/>
    <iact:actionData xml:id="d4">
      <inkml:trace xmlns:inkml="http://www.w3.org/2003/InkML" xml:id="stk4" contextRef="#ctx0" brushRef="#br0">28469 8574 24575 0,'32'0'0'7,"0"0"0"0,2 0 0 1,2 0 0-1,9 0 0 1,0 0-884-1,-10 0 0 1,-1 0 884-1,9 0 0 1,-1 0 0-1,-8-1 0 1,2 2-686-1,13 7 0 1,1 3 686-1,-4 0 0 0,0 3 0 1,4 9 0-1,0-1 0 1,-5-9 0-1,-1-1 0 1,1 7 0-1,0 2 0 1,-1 0 0-1,2 2 0 1,-10-1 0-1,1 2 0 1,-1 0 0-1,11 11 0 0,1 0 0 1,-13-13 0-1,2-1 0 1,0 0 0-1,1 0 0 1,-1 1 0-1,-2 0 0 1,2 13 0-1,0 0 0 1,16-1 0-1,-1 1 0 1,-12 10 0-1,-1-5 0 0,-3-24 0 1,1-2 0-1,2 18 0 1,-4-4 736-1,-10-24-736 1,-5 16 0-1,-20-20 0 1,0 0 208-1,-20-39 1 1,15 29 0-1,-15-30 0 1</inkml:trace>
    </iact:actionData>
  </iact:action>
  <iact:action type="add" startTime="34039">
    <iact:property name="dataType"/>
    <iact:actionData xml:id="d5">
      <inkml:trace xmlns:inkml="http://www.w3.org/2003/InkML" xml:id="stk5" contextRef="#ctx0" brushRef="#br0">30440 8574 24575 0,'-33'0'0'10,"1"0"0"1,-1-1 0-1,-4 2 0 1,-12 3 0-1,-8 3 0 1,4 1-2330 0,-1 4 1-1,1 1 2329 1,1 0 0-1,-4 1 0 1,5 4-600-1,12 2 1 1,4 2 0 0,-1 1 599-1,-2-1 0 1,1 1 0-1,-2 1 0 1,-5 5 0 0,-2 2 0-1,1-1 0 1,0 0 0-1,0-1 0 1,1 1 0-1,5 0 0 1,2-1 0 0,-2 2-391-1,-7 5 1 1,-2 1 0-1,3-1 390 1,11-4 0 0,2-1 0-1,1 1 0 1,-3 4 0-1,0 2 0 1,2-3-577-1,-1 6 1 1,2-2 576 0,-4 5 0-1,5-1 552 1,15-12 0-1,0-2-552 1,-17 5 0 0,4-4 2147-1,24-5-2147 1,-16 15 2982-1,0-35-2982 1,15 15 1767-1,5-20-1767 1,5 0 781 0,15 0-781-1,-20-20 0 1,0 15 0-1,0-15 0 1,0 20 0 0</inkml:trace>
    </iact:actionData>
  </iact:action>
  <iact:action type="add" startTime="41981">
    <iact:property name="dataType"/>
    <iact:actionData xml:id="d6">
      <inkml:trace xmlns:inkml="http://www.w3.org/2003/InkML" xml:id="stk6" contextRef="#ctx0" brushRef="#br0">12543 10767 24575 0,'33'0'0'3,"-1"0"0"1,11 0 0 0,4 0 0 0,7 0 0-1,6 0-2899 1,-5 0 1 0,3 0-1 0,3 0 2899 0,-10 0 0-1,2 0 0 1,1 0 0 0,2 0-700 0,-1 0 0 0,3 0 1-1,1 0-1 1,0 0 1 0,1 0 699 0,-6 0 0-1,0 0 0 1,0 0 0 0,1 0 0 0,1 0 0 0,0 0-223-1,4 0 0 1,2 0 0 0,0 0 0 0,0 0 0 0,-1 0 0-1,0 0 223 1,-3 0 0 0,0 0 0 0,-1 0 0 0,0 0 0-1,-1 0 0 1,-1 0-461 0,7 0 1 0,-2 0 0-1,0 0 0 1,0 0-1 0,2 0 461 0,-7 0 0 0,1 0 0-1,1 0 0 1,0 0 0 0,-2 0 0 0,-2 0 19 0,1 0 0-1,-3 0 0 1,0 0 0 0,0 0 1 0,4 0-20 0,2 0 0-1,5 0 0 1,1 0 0 0,-1 0 0 0,-2 0 0-1,-6 0 0 1,0 0 0 0,-5 0 0 0,-2 0 0 0,2 0 0-1,5 0 0 1,2 0 0 0,-3 0 0 0,-7 0 1174 0,3 0 0-1,-8 0-1174 1,9 0 0 0,-11 0 0 0,-39 0 0 0</inkml:trace>
    </iact:actionData>
  </iact:action>
  <iact:action type="add" startTime="46058">
    <iact:property name="dataType"/>
    <iact:actionData xml:id="d7">
      <inkml:trace xmlns:inkml="http://www.w3.org/2003/InkML" xml:id="stk7" contextRef="#ctx0" brushRef="#br0">21547 12558 24575 0,'45'0'0'7,"-9"0"0"1,3 0 0-1,-4 0 0 1,2 0-2192 0,11 2 1-1,4-4 2191 1,-11-6 0 0,3-3 0-1,0 0 0 1,0 2 0 0,2 1 0-1,3-2 0 1,-1 0 0 0,4-1 0-1,2 0 0 1,0-1 0 0,-3 1 0-1,3 0 0 1,-3-1 0 0,0 1 0-1,2 0 0 1,-2 2 0 0,1 0 0-1,1 0 0 1,0 1 0 0,0-1 0-1,10-2 0 1,1 0 0 0,-1 0 0-1,-5-1-1003 1,2-3 1-1,-4-1 0 1,3 2 1002 0,-7 7 0-1,2 1 0 1,1 1 0 0,-2-2 0-1,10-6 0 1,-1-2 0 0,-3 3-108-1,-16 10 1 1,-2 2 0 0,2-3 107-1,10-8 0 1,1-5 0 0,-2 4-334-1,6 10 0 1,-6-1 334 0,-14-17 0-1,-2 0 0 1,8 17 0 0,-3 1 0-1,4-18 1548 1,-1 20-1548 0,-19 0 3278-1,-5 0-3278 1,0 0 620 0,-15 0 1-1,15 0-1 1,-20 0 1 0</inkml:trace>
    </iact:actionData>
  </iact:action>
  <iact:action type="add" startTime="47968">
    <iact:property name="dataType"/>
    <iact:actionData xml:id="d8">
      <inkml:trace xmlns:inkml="http://www.w3.org/2003/InkML" xml:id="stk8" contextRef="#ctx0" brushRef="#br0">25266 12401 24575 0,'44'0'0'3,"1"0"0"1,-5 0 0 0,5 0-2925-1,-4 0 0 1,4 0 0 0,3 0 2925 0,6 0 0-1,4 0 0 1,3 0 0 0,0 0-692 0,-8 0 1-1,1 0 0 1,1 0 0 0,1 0 0 0,2 0 691-1,0 0 0 1,2 0 0 0,1 0 0 0,0 0 0-1,1 0 0 1,0 0-182 0,-1 0 0 0,1 0 1-1,0 0-1 1,0 0 1 0,0 0-1-1,2 0 182 1,-4 0 0 0,0 0 0 0,2 0 0-1,0 0 0 1,-1 0 0 0,0 0 0 0,-1 0-396-1,4 0 1 1,0 0 0 0,-1 0 0 0,-1 0 0-1,1 0 0 1,-1 0 395 0,-1 0 0 0,-1 0 0-1,1 0 0 1,-1 0 0 0,1 0 0 0,-1 0 0-1,3 0 0 1,0 0 0 0,1 0 0-1,-2 0 0 1,-1 0 0 0,-3 0-21 0,-3 0 0-1,-3 0 1 1,-2 0-1 0,0 0 0 0,2 0 21-1,4 0 0 1,1 0 0 0,0 0 0 0,-1 0 0-1,-3 0 311 1,1 0 1 0,0 0 0 0,-4 0 0-1,-4 0-312 1,9 0 0 0,-3 0 529 0,11 0 1-1,-12 0-1 1,-31 0 1 0,-20 0-1 0</inkml:trace>
    </iact:actionData>
  </iact:action>
  <iact:action type="add" startTime="51060">
    <iact:property name="dataType"/>
    <iact:actionData xml:id="d9">
      <inkml:trace xmlns:inkml="http://www.w3.org/2003/InkML" xml:id="stk9" contextRef="#ctx0" brushRef="#br0">6316 13230 24575 0,'0'44'0'7,"0"1"0"1,0 0 0 0,0-14 0-1,0 3-780 1,0 5 0 0,0 1 780 0,0-4 0-1,0 0 0 1,0 10 0 0,0 3 0 0,0 5 0-1,0 1 0 1,-1-6 0 0,2 2 0 0,5-2 0-1,2 4 0 1,-2-6 0 0,-4-9 0 0,1-1 0-1,17 15 0 1,0 0-668 0,-17-17 0 0,-1 0 668-1,7 18 0 1,2 3-729 0,-1 6 0 0,0 1 729-1,-3-18 0 1,1 1 0 0,2-1 0 0,3-3 0-1,3-1 0 1,0 1 0 0,-1 1 0 0,1 0 0-1,-3 0 0 1,0 14 0 0,-1 1 0-1,2-15 0 1,1 2 0 0,-4 1 0 0,-8-1 0-1,-4 0 0 1,4-1 0 0,17 14 0 0,0-1 0-1,-17 3 0 1,-1-1-796 0,7-12 1 0,2-2 795-1,0 5 0 1,-2-1 0 0,-8-4 0 0,3 0 0-1,16 10 0 1,-1-1 0 0,-15-6 0 0,-3-1 293-1,10-2 1 1,-2-1-294 0,-7 2 0 0,-4-7 0-1,2-9 1174 1,20 30-1174 0,-15-55 2162 0,15 14-2162-1,-20-38 0 1,0 14 0 0,0-15 0 0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29:3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7668">
    <iact:property name="dataType"/>
    <iact:actionData xml:id="d0">
      <inkml:trace xmlns:inkml="http://www.w3.org/2003/InkML" xml:id="stk0" contextRef="#ctx0" brushRef="#br0">2889 7611 24575 0,'45'0'0'7,"-13"0"0"0,1 0 0 0,1 0 0 0,2 0-1278 0,8 0 0 1,1 0 1278-1,-1 0 0 0,2 0-833 0,-5 0 0 0,4 0 1 0,-2 0 832 1,16 0 0-1,2 0 0 0,-8 0 0 0,3 0 0 0,-1 0-1451 0,-9 0 0 1,-1 0 0-1,1 0 1451 0,2 0 0 0,0 0 0 0,0 0 0 0,-3 0 0 1,0 0 0-1,0 0-490 0,-1 0 1 0,1 0 0 0,0 0 489 1,-1 0 0-1,0 0 0 0,2 0 0 0,12 0 0 0,1 0 0 0,-1 0 0 1,-13 0 0-1,-1 0 0 0,1 0 0 0,7 0 0 0,0 0 0 0,-4 0 73 1,-7 0 0-1,-3 0-73 0,6 0 0 0,-3 0 1447 0,9 0-1447 0,-18 0 0 1,0 0 0-1,13 0 5547 0,0 0-5547 0,0 0 2561 0,-20 0-2561 1,16 0 0-1,-3 0 0 0,-23 0 510 0,24 0 1 0,2 0-511 0,-16 0 0 1,6 0 0-1,3 0 0 0,15 0 76 0,-15 0 1 0,-3 0-77 0,-6 0 0 1,15 0 0-1,-15 0 0 0,0 0 0 0,14 0 0 0,-34 0 0 0,15 0 0 1,-20 0 0-1,0 0 0 0,-20-20 0 0,15 15 0 0,-15-15 0 1</inkml:trace>
    </iact:actionData>
  </iact:action>
  <iact:action type="add" startTime="23198">
    <iact:property name="dataType"/>
    <iact:actionData xml:id="d1">
      <inkml:trace xmlns:inkml="http://www.w3.org/2003/InkML" xml:id="stk1" contextRef="#ctx0" brushRef="#br0">7056 7454 24575 0,'24'0'0'4,"16"0"0"1,5 0 0 0,6 0 0 0,8 0-2649 0,-9 0 1 0,3 0 0 0,3 0 2648 0,-7 0 0 0,1 0 0 0,2 0 0 0,1 0-822 0,8 0 0 0,3 0 1 0,1 0-1 0,-1 0 822 0,-2 0 0 0,0 0 0 0,1 0 0 0,1 0-341 0,-6 0 0 0,2 0 1 0,1 0-1 0,-1 0 0 0,0 0 341 0,-3 0 0 0,1 0 0 0,-1 0 0 0,-1 0 0 0,-1 0 0 0,9 0 0 0,-2 0 0 0,0 0 0 0,2 0-465 0,-7 0 1 0,1 0 0 0,1 0 0 0,-1 0 0 0,-1 0 464 0,1 0 0-1,-1 0 0 1,0 0 0 0,4 0-127 0,-2 0 1 0,5 0 0 0,3 0-1 0,-1 0 1 0,-2 0 0 0,-5 0 126 0,2 0 0 0,-4 0 0 0,-2 0 0 0,3 0 0 0,-2 0 0 0,4 0 0 0,-1 0 0 0,-2 0 0 0,-5 0 336 0,4 0 1 0,-6 0-1 0,-2 0-336 0,13 0 0 0,-2 0 644 0,-16 0 0 0,2 0 1 0,-4 0-645 0,6 0 0 0,-4 0 1646 0,-7 0 0 0,-3 0-1646 0,12 0 5300 0,-25 0-5300 0,0 0 2531 0,-15 0-2531 0,15 0 487 0,-40 0 1 0,15 0-1 0,-15 0 1 0</inkml:trace>
    </iact:actionData>
  </iact:action>
  <iact:action type="add" startTime="24792">
    <iact:property name="dataType"/>
    <iact:actionData xml:id="d2">
      <inkml:trace xmlns:inkml="http://www.w3.org/2003/InkML" xml:id="stk2" contextRef="#ctx0" brushRef="#br0">1322 8282 24575 0,'24'0'0'7,"16"0"0"0,5 0 0 0,2 0 0 0,6 0-2481 0,4 0 1 0,3 0 2480 0,-14 0 0 0,3 0 0 0,0 0-751 0,2 0 0 0,0 0 0 0,1 0 751 0,1 0 0 0,0 0 0 0,0 0 0 0,0 0 0 0,0 0 0 0,1 0 0 0,4 0 0 1,2 0 0-1,-4 0 0 0,-11 0 0 0,-2 0 0 0,-2 0 0 0,16 0 0 0,-2 0 283 0,-6 0 0 0,-3 0-283 0,-11 0 0 0,0 0-105 0,0 0 1 0,-1 0 104 0,0 0 0 0,-3 0 0 0,14 0 2027 0,-20 0-2027 0,15 0 0 0,-36 0 0 0,16 0 0 1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8T03:38:32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1085">
    <iact:property name="dataType"/>
    <iact:actionData xml:id="d0">
      <inkml:trace xmlns:inkml="http://www.w3.org/2003/InkML" xml:id="stk0" contextRef="#ctx0" brushRef="#br0">7683 5731 24575 0,'45'0'0'4,"-6"0"0"1,6 0 0 0,-1 0 0 0,4 0 0 0,4 0-2458 0,4 0 0 0,5 0 1 0,3 0-1 0,2 0 2209 0,-12 0 1 0,2 0 0 0,2 0 0-1,1 0-1 1,1 0 1 0,1 0-60 0,-1 0 0 0,2 0 0 0,1 0 0 0,1 0 1 0,0 0-1 0,-1 0 0 0,-1 0 308 0,-2 0 0 0,-2 0 0-1,0 0 0 1,0 0 0 0,1 0 0 0,1 0 0 0,3 0-98 0,-4 0 0 0,3 0 1 0,3 0-1 0,0 0 1 0,0 0-1 0,0 0 0 0,-3 0 1-1,-3 0-1 1,-4 0 98 0,13 0 0 0,-6 0 0 0,-3 0 0 0,1 0 0 0,2 0-246 0,-7 0 1 0,3 0 0 0,1 0 0 0,-1 0 0 0,-1 0 0-1,-3 0 0 1,-6 0 245 0,18 0 0 0,-8 0 0 0,-3 0 826 0,6 0 1 0,-3 0-827 0,3 0 0 0,-7 0 750 0,-7 0 1 0,-12 0 0 0,-15 0 0 0</inkml:trace>
    </iact:actionData>
  </iact:action>
  <iact:action type="add" startTime="34867">
    <iact:property name="dataType"/>
    <iact:actionData xml:id="d1">
      <inkml:trace xmlns:inkml="http://www.w3.org/2003/InkML" xml:id="stk1" contextRef="#ctx0" brushRef="#br0">5040 11819 24575 0,'52'0'0'2,"0"0"0"1,-6 0 0 0,10 0 0 0,6 0 0 0,5 0 0 0,1 0 0-1,-2 0 0 1,-3 0-1405 0,-6 0 1 0,-2 0 0 0,-1 0-1 0,0 0 1-1,2 0 0 1,2 0-1 0,4 0 1269 0,-8 0 1 0,2 0-1 0,3 0 1-1,1 0-1 1,2 0 1 0,0 0 0 0,0 0-1 0,0 0 1 0,-2 0-1-1,-1 0 1 1,-3 0-135 0,9 0 1 0,-3 0 0 0,-1 0-1 0,-1 0 1-1,0 0 0 1,0 0 0 0,1 0-1 0,0 0 270 0,-2 0 0 0,0 0 0-1,1 0 0 1,-1 0 0 0,1 0 0 0,0 0 0 0,0 0 0 0,-2 0 0 0,0 0-48-1,1 0 1 1,-1 0 0 0,0 0 0 0,-1 0 0 0,0 0 0 0,1 0 0-1,0 0 0 1,2 0 47 0,1 0 0 0,3 0 0 0,1 0 0 0,0 0 0-1,1 0 0 1,-2 0 0 0,-2 0 0 0,-2 0 0 0,-4 0-350 0,2 0 1-1,-3 0 0 1,-2 0-1 0,-2 0 1 0,0 0 0 0,2 0 349 0,3 0 0-1,2 0 0 1,1 0 0 0,-3 0 0 0,-3 0 0 0,-7 0 0 0,4 0 0-1,-6 0 0 1,-3 0 448 0,7 0 1 0,-7 0 0 0,4 0 0 0,-25 0 0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3A0F9-86A7-41BA-8235-00C7AA0CB782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A21B2-8EE4-495E-844B-F7B3E2ABE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8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8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7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24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BB6E-827E-ABB1-0306-D2741441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CBB1A-D4B2-AE2C-93F0-248D06F5A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6CE55-89C7-F6B7-7619-A7982089F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F864B-240C-B00A-1E7A-AF5126515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0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5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96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46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D5E5-BF71-E118-177F-6E27CBDD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2AA51-F922-0B3F-F52F-DA3C00557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284C1-A305-4439-4614-43CF30C1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03E76-9826-9ACB-193E-F4620F163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59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8322-89A3-10CA-4F6B-15E43246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B720D-91F0-26E1-D4F4-86F4DB40A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9411F-4889-EAC9-E0F1-DD597D1CD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F3DFD-0246-7BD8-5C7C-99C3C8023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A21B2-8EE4-495E-844B-F7B3E2ABE8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58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92F2-1555-B3EF-4D9A-A40B0EA2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4C725-5EA8-EC7D-D2E4-CAF0C07AE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0CC92-9C1A-E8B3-8927-1DE5F6939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79E14-B174-1070-8662-FAA978087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72490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 Appendix A</a:t>
            </a:r>
            <a:r>
              <a:rPr lang="en-US"/>
              <a:t>9</a:t>
            </a:r>
            <a:r>
              <a:t>: Interaction Model</a:t>
            </a:r>
          </a:p>
          <a:p>
            <a:endParaRPr/>
          </a:p>
          <a:p>
            <a:r>
              <a:t>Supports Slide 13. Full coefficient table for the 19-term interaction model. Of the nine interaction terms tested, only adhere × extent_2 reaches p less than 0.05  coefficient plus 0.555, p equals 0.046. Every other interaction has p above 0.10. With nine tests, finding one significant at the 5% level is consistent with chance. Adjusted R-squared moves from 0.038 (main effects only) to 0.040 (with interactions)  a negligible gain. We dropped all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 </a:t>
            </a:r>
            <a:endParaRPr lang="en-US"/>
          </a:p>
          <a:p>
            <a:r>
              <a:t>Supports Slide 16. All six pairwise extent contrasts after Bonferroni adjustment. Only contrast 3 − 1 (Serosa vs. Submucosa) is significant: </a:t>
            </a:r>
            <a:r>
              <a:rPr err="1"/>
              <a:t>Δ</a:t>
            </a:r>
            <a:r>
              <a:t> = +0.369, simultaneous 95% CI 0.007 to 0.730. Every other comparison crosses zero. So extent_3 in the final model is essentially picking up the serosa-vs-submucosa jump.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microsoft.com/office/2011/relationships/inkAction" Target="../ink/inkAction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inkAction" Target="../ink/inkAction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inkAction" Target="../ink/inkAction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inkAction" Target="../ink/inkAction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inkAction" Target="../ink/inkAction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11/relationships/inkAction" Target="../ink/inkAction6.xml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11/relationships/inkAction" Target="../ink/inkAction7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6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6126480"/>
            <a:ext cx="1673352" cy="73152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A59"/>
                </a:solidFill>
                <a:latin typeface="Calibri"/>
              </a:rPr>
              <a:t>PH 1820 · APPLIED LINEAR REGRESSION ·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76457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Predictors of Lymph Node Burden in Stage II/III Colon Cancer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548640" cy="54864"/>
          </a:xfrm>
          <a:prstGeom prst="rect">
            <a:avLst/>
          </a:prstGeom>
          <a:solidFill>
            <a:srgbClr val="E86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Parminder Kooner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4828E"/>
                </a:solidFill>
                <a:latin typeface="Calibri"/>
              </a:rPr>
              <a:t>Spring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C7943-B41F-357E-93A1-367CC0615457}"/>
              </a:ext>
            </a:extLst>
          </p:cNvPr>
          <p:cNvSpPr txBox="1"/>
          <p:nvPr/>
        </p:nvSpPr>
        <p:spPr>
          <a:xfrm>
            <a:off x="914400" y="3508219"/>
            <a:ext cx="1076457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A Multiple Linear Regression Analysis of Clinical and Tumor Characteristics with Model Diagnostics and Validation</a:t>
            </a:r>
            <a:endParaRPr 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01"/>
    </mc:Choice>
    <mc:Fallback xmlns="">
      <p:transition spd="slow" advTm="2050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Research Question &amp; Hypotheses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RESEARCH</a:t>
            </a:r>
            <a:r>
              <a:rPr sz="1100" b="1">
                <a:solidFill>
                  <a:srgbClr val="14828E"/>
                </a:solidFill>
                <a:latin typeface="Calibri"/>
              </a:rPr>
              <a:t> </a:t>
            </a:r>
            <a:r>
              <a:rPr b="1">
                <a:solidFill>
                  <a:srgbClr val="14828E"/>
                </a:solidFill>
                <a:latin typeface="Calibri"/>
              </a:rPr>
              <a:t>QUESTION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B2A4A"/>
                </a:solidFill>
                <a:latin typeface="Calibri"/>
              </a:rPr>
              <a:t>Do markers of advanced local disease (obstruction, perforation, adherence, extent of invasion) independently predict the number of positive lymph nodes at diagnosis, after adjusting for clinical covariates?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HYPOTHESES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194560"/>
            <a:ext cx="5212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08610"/>
            <a:ext cx="1945178" cy="246221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Calibri"/>
              </a:rPr>
              <a:t>  Null</a:t>
            </a:r>
            <a:r>
              <a:rPr lang="en-US" sz="1600" b="1">
                <a:solidFill>
                  <a:srgbClr val="0B2A4A"/>
                </a:solidFill>
                <a:latin typeface="Calibri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Calibri"/>
              </a:rPr>
              <a:t>Hypothesis</a:t>
            </a:r>
            <a:r>
              <a:rPr lang="en-US" sz="1600" b="1">
                <a:solidFill>
                  <a:srgbClr val="0B2A4A"/>
                </a:solidFill>
                <a:latin typeface="Calibri"/>
              </a:rPr>
              <a:t>: </a:t>
            </a:r>
            <a:endParaRPr sz="1600" b="1">
              <a:solidFill>
                <a:srgbClr val="0B2A4A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83680" y="2514600"/>
                <a:ext cx="5029200" cy="2659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𝑜𝑏𝑠𝑡𝑟𝑢𝑐𝑡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𝑝𝑒𝑟𝑓𝑜𝑟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𝑎𝑑ℎ𝑒𝑟𝑒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𝑒𝑥𝑡𝑒𝑛𝑡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1600" b="0">
                  <a:solidFill>
                    <a:srgbClr val="55606B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2514600"/>
                <a:ext cx="5029200" cy="265970"/>
              </a:xfrm>
              <a:prstGeom prst="rect">
                <a:avLst/>
              </a:prstGeom>
              <a:blipFill>
                <a:blip r:embed="rId5"/>
                <a:stretch>
                  <a:fillRect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6400800" y="3108960"/>
            <a:ext cx="5212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E86A59"/>
                </a:solidFill>
                <a:latin typeface="Calibri"/>
              </a:rPr>
              <a:t>Why Use “Nodes” as the Outcome?</a:t>
            </a:r>
            <a:endParaRPr b="1">
              <a:solidFill>
                <a:srgbClr val="E86A5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972800" cy="106695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Calibri"/>
              </a:rPr>
              <a:t>▸  </a:t>
            </a:r>
            <a:r>
              <a:rPr lang="en-US" sz="1600" b="1">
                <a:solidFill>
                  <a:schemeClr val="bg1"/>
                </a:solidFill>
                <a:latin typeface="Calibri"/>
              </a:rPr>
              <a:t>Fully observed continuous measure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Calibri"/>
              </a:rPr>
              <a:t>▸  </a:t>
            </a:r>
            <a:r>
              <a:rPr lang="en-US" sz="1600" b="1">
                <a:solidFill>
                  <a:schemeClr val="bg1"/>
                </a:solidFill>
              </a:rPr>
              <a:t>Clinically relevant, forming a key component of TNM staging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bg1"/>
                </a:solidFill>
                <a:latin typeface="Calibri"/>
              </a:rPr>
              <a:t>▸  </a:t>
            </a:r>
            <a:r>
              <a:rPr lang="en-US" sz="1600" b="1">
                <a:solidFill>
                  <a:schemeClr val="bg1"/>
                </a:solidFill>
              </a:rPr>
              <a:t>Measured at the time of surgery, before initiation of chemotherapy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D33893-05E6-0CAA-3A78-DB58BDEE8C14}"/>
                  </a:ext>
                </a:extLst>
              </p:cNvPr>
              <p:cNvSpPr txBox="1"/>
              <p:nvPr/>
            </p:nvSpPr>
            <p:spPr>
              <a:xfrm>
                <a:off x="6492240" y="3467100"/>
                <a:ext cx="5029200" cy="26603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𝐴𝑡𝑙𝑒𝑎𝑠𝑡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𝑡ℎ𝑒𝑠𝑒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b="0">
                  <a:solidFill>
                    <a:schemeClr val="tx1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D33893-05E6-0CAA-3A78-DB58BDEE8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3467100"/>
                <a:ext cx="5029200" cy="266035"/>
              </a:xfrm>
              <a:prstGeom prst="rect">
                <a:avLst/>
              </a:prstGeom>
              <a:blipFill>
                <a:blip r:embed="rId6"/>
                <a:stretch>
                  <a:fillRect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82492CB-464B-BE5C-BDC7-D63B783A1925}"/>
              </a:ext>
            </a:extLst>
          </p:cNvPr>
          <p:cNvSpPr txBox="1"/>
          <p:nvPr/>
        </p:nvSpPr>
        <p:spPr>
          <a:xfrm>
            <a:off x="6492239" y="3141714"/>
            <a:ext cx="1945179" cy="24622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Calibri"/>
              </a:rPr>
              <a:t>  Alternate Hypothesis</a:t>
            </a:r>
            <a:endParaRPr sz="1600" b="1">
              <a:solidFill>
                <a:srgbClr val="0B2A4A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D659330-6186-103F-B440-99844F715B0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7724880" y="2933280"/>
              <a:ext cx="2717640" cy="927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D659330-6186-103F-B440-99844F715B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15520" y="2923920"/>
                <a:ext cx="2736360" cy="94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71"/>
    </mc:Choice>
    <mc:Fallback xmlns="">
      <p:transition spd="slow" advTm="377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METHODS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Dataset &amp;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4828E"/>
                </a:solidFill>
                <a:latin typeface="Calibri"/>
              </a:rPr>
              <a:t>SAMPLE SELECTION</a:t>
            </a:r>
            <a:endParaRPr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737360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737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Calibri"/>
              </a:rPr>
              <a:t>1,858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7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0">
                <a:solidFill>
                  <a:schemeClr val="bg1"/>
                </a:solidFill>
                <a:latin typeface="Calibri"/>
              </a:rPr>
              <a:t>Total Observations</a:t>
            </a:r>
            <a:endParaRPr sz="1400" b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31720" y="2103120"/>
            <a:ext cx="1737360" cy="12801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1482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2860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14828E"/>
                </a:solidFill>
                <a:latin typeface="Calibri"/>
              </a:rPr>
              <a:t>929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880360"/>
            <a:ext cx="17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0">
                <a:solidFill>
                  <a:srgbClr val="55606B"/>
                </a:solidFill>
                <a:latin typeface="Calibri"/>
              </a:rPr>
              <a:t>Unique Patients</a:t>
            </a:r>
            <a:endParaRPr sz="1400" b="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06240" y="2103120"/>
            <a:ext cx="1737360" cy="128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183877"/>
            <a:ext cx="1737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E86A59"/>
                </a:solidFill>
                <a:latin typeface="Calibri"/>
              </a:rPr>
              <a:t>888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80360"/>
            <a:ext cx="17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0">
                <a:solidFill>
                  <a:srgbClr val="55606B"/>
                </a:solidFill>
                <a:latin typeface="Calibri"/>
              </a:rPr>
              <a:t>Final </a:t>
            </a:r>
            <a:r>
              <a:rPr sz="1400" b="0">
                <a:solidFill>
                  <a:srgbClr val="55606B"/>
                </a:solidFill>
                <a:latin typeface="Calibri"/>
              </a:rPr>
              <a:t>Analytic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99164"/>
            <a:ext cx="563880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>
                <a:solidFill>
                  <a:schemeClr val="bg1">
                    <a:lumMod val="50000"/>
                  </a:schemeClr>
                </a:solidFill>
              </a:rPr>
              <a:t>Data Source: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 NCTG randomized trial of adjuvant chemotherapy in Stage II/III colon cancer (Laurie et al., 1989)</a:t>
            </a:r>
          </a:p>
          <a:p>
            <a:endParaRPr sz="1300" b="0">
              <a:solidFill>
                <a:srgbClr val="55606B"/>
              </a:solidFill>
              <a:latin typeface="Calibri"/>
            </a:endParaRPr>
          </a:p>
          <a:p>
            <a:r>
              <a:rPr lang="en-US" b="1"/>
              <a:t>Missing Data:</a:t>
            </a:r>
            <a:r>
              <a:rPr lang="en-US"/>
              <a:t> nodes (1.9%) and tumor differentiation (2.5%); no missingness in other variables. A complete-case analysis was conducted.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54864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VARIABLES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77386"/>
              </p:ext>
            </p:extLst>
          </p:nvPr>
        </p:nvGraphicFramePr>
        <p:xfrm>
          <a:off x="6400800" y="2103120"/>
          <a:ext cx="5394960" cy="4005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33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8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2A4A"/>
                          </a:solidFill>
                          <a:latin typeface="Calibri"/>
                        </a:rPr>
                        <a:t>Respons</a:t>
                      </a:r>
                      <a:r>
                        <a:rPr lang="en-US" sz="1600" b="1">
                          <a:solidFill>
                            <a:srgbClr val="0B2A4A"/>
                          </a:solidFill>
                          <a:latin typeface="Calibri"/>
                        </a:rPr>
                        <a:t>e (Outcome)</a:t>
                      </a:r>
                      <a:endParaRPr sz="16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83">
                <a:tc rowSpan="2"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2A4A"/>
                          </a:solidFill>
                          <a:latin typeface="Calibri"/>
                        </a:rPr>
                        <a:t>Primary</a:t>
                      </a:r>
                      <a:r>
                        <a:rPr lang="en-US" sz="1600" b="1">
                          <a:solidFill>
                            <a:srgbClr val="0B2A4A"/>
                          </a:solidFill>
                          <a:latin typeface="Calibri"/>
                        </a:rPr>
                        <a:t> Predictors</a:t>
                      </a:r>
                      <a:endParaRPr sz="16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obstruct, perfor, adhere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33">
                <a:tc vMerge="1">
                  <a:txBody>
                    <a:bodyPr/>
                    <a:lstStyle/>
                    <a:p>
                      <a:endParaRPr sz="12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extent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Ordinal (4)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333">
                <a:tc rowSpan="4"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B2A4A"/>
                          </a:solidFill>
                          <a:latin typeface="Calibri"/>
                        </a:rPr>
                        <a:t>Adjustment</a:t>
                      </a:r>
                      <a:r>
                        <a:rPr lang="en-US" sz="1600" b="1">
                          <a:solidFill>
                            <a:srgbClr val="0B2A4A"/>
                          </a:solidFill>
                          <a:latin typeface="Calibri"/>
                        </a:rPr>
                        <a:t> (Covariates)</a:t>
                      </a:r>
                      <a:endParaRPr sz="16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333">
                <a:tc vMerge="1">
                  <a:txBody>
                    <a:bodyPr/>
                    <a:lstStyle/>
                    <a:p>
                      <a:endParaRPr sz="12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sex, surg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333">
                <a:tc vMerge="1">
                  <a:txBody>
                    <a:bodyPr/>
                    <a:lstStyle/>
                    <a:p>
                      <a:endParaRPr sz="12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rx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Nominal (3)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333">
                <a:tc vMerge="1">
                  <a:txBody>
                    <a:bodyPr/>
                    <a:lstStyle/>
                    <a:p>
                      <a:endParaRPr sz="12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differ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2A4A"/>
                          </a:solidFill>
                          <a:latin typeface="Calibri"/>
                        </a:rPr>
                        <a:t>Ordinal (3)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Arrow: Right 23">
            <a:extLst>
              <a:ext uri="{FF2B5EF4-FFF2-40B4-BE49-F238E27FC236}">
                <a16:creationId xmlns:a16="http://schemas.microsoft.com/office/drawing/2014/main" id="{6CC22759-F7C1-2F71-C1E9-BF2B2153DCB2}"/>
              </a:ext>
            </a:extLst>
          </p:cNvPr>
          <p:cNvSpPr/>
          <p:nvPr/>
        </p:nvSpPr>
        <p:spPr>
          <a:xfrm>
            <a:off x="2036618" y="2171613"/>
            <a:ext cx="462742" cy="27016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2FAD368-E634-88F6-7B3A-7FBF3F23EB54}"/>
              </a:ext>
            </a:extLst>
          </p:cNvPr>
          <p:cNvSpPr/>
          <p:nvPr/>
        </p:nvSpPr>
        <p:spPr>
          <a:xfrm>
            <a:off x="3974176" y="2177934"/>
            <a:ext cx="462742" cy="27016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9DF32BA-002D-B00A-DA90-D24A8E549B46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467440" y="1997640"/>
              <a:ext cx="8386560" cy="3426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9DF32BA-002D-B00A-DA90-D24A8E549B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8080" y="1988280"/>
                <a:ext cx="8405280" cy="344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71"/>
    </mc:Choice>
    <mc:Fallback xmlns="">
      <p:transition spd="slow" advTm="47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5F4B-7231-7693-5289-18A3BDE9A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9DF7EA-6EF9-BA72-838F-E70F83BD6E87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D109D-EB8E-A74D-DE57-B8AE5A2E3379}"/>
              </a:ext>
            </a:extLst>
          </p:cNvPr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METHODS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B892-90AB-4B8F-B276-EF15C7850E79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98AF7-CFBE-16DF-FEFB-5BD99D471999}"/>
              </a:ext>
            </a:extLst>
          </p:cNvPr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Data Structure, Study Design &amp; Preprocessing</a:t>
            </a:r>
            <a:endParaRPr lang="en-US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F5AF71-1460-354B-134E-6F5970712EE9}"/>
              </a:ext>
            </a:extLst>
          </p:cNvPr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0DAE4-C20E-8690-EED0-F35F03187B8E}"/>
              </a:ext>
            </a:extLst>
          </p:cNvPr>
          <p:cNvSpPr txBox="1"/>
          <p:nvPr/>
        </p:nvSpPr>
        <p:spPr>
          <a:xfrm>
            <a:off x="457200" y="1691640"/>
            <a:ext cx="54864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4828E"/>
                </a:solidFill>
                <a:latin typeface="Calibri"/>
              </a:rPr>
              <a:t>DATA STRUCTURE</a:t>
            </a:r>
            <a:endParaRPr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EB1C4E-F943-590E-12E9-18F63FCACA9B}"/>
              </a:ext>
            </a:extLst>
          </p:cNvPr>
          <p:cNvSpPr txBox="1"/>
          <p:nvPr/>
        </p:nvSpPr>
        <p:spPr>
          <a:xfrm>
            <a:off x="457200" y="2880360"/>
            <a:ext cx="17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0">
                <a:solidFill>
                  <a:schemeClr val="bg1"/>
                </a:solidFill>
                <a:latin typeface="Calibri"/>
              </a:rPr>
              <a:t>Total Observations</a:t>
            </a:r>
            <a:endParaRPr sz="1400" b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D5AF2-BB54-76E3-38CA-49E38E060381}"/>
              </a:ext>
            </a:extLst>
          </p:cNvPr>
          <p:cNvSpPr txBox="1"/>
          <p:nvPr/>
        </p:nvSpPr>
        <p:spPr>
          <a:xfrm>
            <a:off x="533400" y="2250634"/>
            <a:ext cx="54102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/>
              <a:t>Patient-level dataset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Demographic variables (Age, Sex)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Tumor Characteristics (Obstruction, perforation, adherence, extent)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Treatment (</a:t>
            </a:r>
            <a:r>
              <a:rPr lang="en-US" err="1"/>
              <a:t>rx</a:t>
            </a:r>
            <a:r>
              <a:rPr lang="en-US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AAA87F-B275-00F7-90E1-E1A4BCCC0F62}"/>
              </a:ext>
            </a:extLst>
          </p:cNvPr>
          <p:cNvSpPr txBox="1"/>
          <p:nvPr/>
        </p:nvSpPr>
        <p:spPr>
          <a:xfrm>
            <a:off x="6400800" y="1691640"/>
            <a:ext cx="548640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4828E"/>
                </a:solidFill>
                <a:latin typeface="Calibri"/>
              </a:rPr>
              <a:t>STUDY DESIGN</a:t>
            </a:r>
            <a:endParaRPr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DE1D1-4302-183A-7020-089F922D1F0F}"/>
              </a:ext>
            </a:extLst>
          </p:cNvPr>
          <p:cNvSpPr txBox="1"/>
          <p:nvPr/>
        </p:nvSpPr>
        <p:spPr>
          <a:xfrm>
            <a:off x="6411533" y="2330522"/>
            <a:ext cx="546493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derived from a randomized clinical trial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explicit variable indicating treatment assignment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Analysis conducted as </a:t>
            </a:r>
            <a:r>
              <a:rPr lang="en-US" b="1"/>
              <a:t>observational</a:t>
            </a:r>
            <a:r>
              <a:rPr lang="en-US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7D45AB-6B6E-9E1E-6790-2681389E97C3}"/>
              </a:ext>
            </a:extLst>
          </p:cNvPr>
          <p:cNvSpPr txBox="1"/>
          <p:nvPr/>
        </p:nvSpPr>
        <p:spPr>
          <a:xfrm>
            <a:off x="6431280" y="4091011"/>
            <a:ext cx="545592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4828E"/>
                </a:solidFill>
                <a:latin typeface="Calibri"/>
              </a:rPr>
              <a:t>INTERPRETATION</a:t>
            </a:r>
            <a:endParaRPr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DE7F1-2A3F-B43B-E5D3-50958C5DFCE3}"/>
              </a:ext>
            </a:extLst>
          </p:cNvPr>
          <p:cNvSpPr txBox="1"/>
          <p:nvPr/>
        </p:nvSpPr>
        <p:spPr>
          <a:xfrm>
            <a:off x="6411533" y="4585455"/>
            <a:ext cx="5410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/>
              <a:t>Results interpreted as associations, not causal effects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B4488E-82A1-9175-92AC-E4D9F595671D}"/>
              </a:ext>
            </a:extLst>
          </p:cNvPr>
          <p:cNvSpPr txBox="1"/>
          <p:nvPr/>
        </p:nvSpPr>
        <p:spPr>
          <a:xfrm>
            <a:off x="533400" y="6451533"/>
            <a:ext cx="39576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/>
              <a:t>Dataset structure verified using PROC CONTENTS (SAS)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710726-45E4-1E72-77BC-434BDBDCDA4F}"/>
              </a:ext>
            </a:extLst>
          </p:cNvPr>
          <p:cNvSpPr txBox="1"/>
          <p:nvPr/>
        </p:nvSpPr>
        <p:spPr>
          <a:xfrm>
            <a:off x="457200" y="4091010"/>
            <a:ext cx="5455920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14828E"/>
                </a:solidFill>
                <a:latin typeface="Calibri"/>
              </a:rPr>
              <a:t>DATA PREPROCESSING</a:t>
            </a:r>
            <a:endParaRPr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1FA4E3-D9B5-C80F-C798-3A3D10393C5D}"/>
              </a:ext>
            </a:extLst>
          </p:cNvPr>
          <p:cNvSpPr txBox="1"/>
          <p:nvPr/>
        </p:nvSpPr>
        <p:spPr>
          <a:xfrm>
            <a:off x="533400" y="4673018"/>
            <a:ext cx="546493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Removed identifiers (id, study, </a:t>
            </a:r>
            <a:r>
              <a:rPr lang="en-US" err="1"/>
              <a:t>rownames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Excluded survival-related variables (time, status, </a:t>
            </a:r>
            <a:r>
              <a:rPr lang="en-US" err="1"/>
              <a:t>etype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Removed collinear variable (node4)</a:t>
            </a:r>
          </a:p>
        </p:txBody>
      </p:sp>
    </p:spTree>
    <p:extLst>
      <p:ext uri="{BB962C8B-B14F-4D97-AF65-F5344CB8AC3E}">
        <p14:creationId xmlns:p14="http://schemas.microsoft.com/office/powerpoint/2010/main" val="168230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71"/>
    </mc:Choice>
    <mc:Fallback xmlns="">
      <p:transition spd="slow" advTm="4077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EDBC-F6BA-3852-2A3E-558C78D7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CE57-FACC-1463-0680-9157A9B497E0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4C194-5136-4FBC-0C3F-C4DAA20DAB9D}"/>
              </a:ext>
            </a:extLst>
          </p:cNvPr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</a:rPr>
              <a:t>EXPLORATORY DATA ANALYSIS 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55C37-4CA7-0983-1C3F-25C4D448B9A4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9C5D1-34D2-B2EA-EA21-D1E52B218E10}"/>
              </a:ext>
            </a:extLst>
          </p:cNvPr>
          <p:cNvSpPr/>
          <p:nvPr/>
        </p:nvSpPr>
        <p:spPr>
          <a:xfrm>
            <a:off x="359664" y="77724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1BF8F-3670-99FC-341E-E09F2FF257DE}"/>
              </a:ext>
            </a:extLst>
          </p:cNvPr>
          <p:cNvSpPr/>
          <p:nvPr/>
        </p:nvSpPr>
        <p:spPr>
          <a:xfrm>
            <a:off x="359664" y="1140772"/>
            <a:ext cx="11247120" cy="974072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3256A-8E4F-2FD2-FBEE-5C36AE72014C}"/>
              </a:ext>
            </a:extLst>
          </p:cNvPr>
          <p:cNvSpPr txBox="1"/>
          <p:nvPr/>
        </p:nvSpPr>
        <p:spPr>
          <a:xfrm>
            <a:off x="542544" y="1232212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KEY</a:t>
            </a:r>
            <a:r>
              <a:rPr sz="1100" b="1">
                <a:solidFill>
                  <a:srgbClr val="FFFFFF"/>
                </a:solidFill>
                <a:latin typeface="Calibri"/>
              </a:rPr>
              <a:t> </a:t>
            </a:r>
            <a:r>
              <a:rPr sz="140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FFDC0-BB77-B976-6C87-ECBE900D7D29}"/>
              </a:ext>
            </a:extLst>
          </p:cNvPr>
          <p:cNvSpPr txBox="1"/>
          <p:nvPr/>
        </p:nvSpPr>
        <p:spPr>
          <a:xfrm>
            <a:off x="542544" y="15121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We conducted six EDA stages: univariate distributions of each variable, bivariate associations with lymph node count, and redundancy checks among predictors.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664" y="2224572"/>
            <a:ext cx="4465903" cy="2154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400" b="1">
                <a:solidFill>
                  <a:srgbClr val="1F2A44"/>
                </a:solidFill>
              </a:rPr>
              <a:t>OVERVIEW</a:t>
            </a:r>
            <a:r>
              <a:rPr lang="en-US" sz="1400" b="1">
                <a:solidFill>
                  <a:srgbClr val="1F2A44"/>
                </a:solidFill>
              </a:rPr>
              <a:t> </a:t>
            </a:r>
            <a:r>
              <a:rPr lang="en-US" sz="1400" b="1"/>
              <a:t>· EDA Framework: Six Stages and Key Findings</a:t>
            </a:r>
            <a:endParaRPr lang="en-US" sz="14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390487"/>
              </p:ext>
            </p:extLst>
          </p:nvPr>
        </p:nvGraphicFramePr>
        <p:xfrm>
          <a:off x="405385" y="2672592"/>
          <a:ext cx="11247117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6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examined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PROC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Decision / finding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①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Univariate continuous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nodes, age  center, spread, skew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UNIVARIATE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nodes right-skewed (skew = 2.55) → </a:t>
                      </a:r>
                      <a:r>
                        <a:rPr lang="en-US" sz="1100"/>
                        <a:t>transformation evaluated via Box–Cox</a:t>
                      </a:r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②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Categorical frequencies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rx, sex, obstruct, perfor, adhere, differ, extent, surg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FREQ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perfor (n=27) and extent=1 (n=19) are rare cells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③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Bivariate (continuous)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nodes vs age  slope, R²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SGPLOT (REG)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slope = −0.025 / yr (p = 0.012); R² &lt; 1%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④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Bivariate (categorical)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nodes by each categorical predictor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SGPLOT (VBOX)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only extent and differ trend; six others flat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⑤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Continuous correlations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nodes ↔ age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CORR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 = −0.09, ρ = −0.11; clinically negligible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⑥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Cross-tabs (multicoll.)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each disease marker × extent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FREQ (CHISQ)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Cramér's V ≤ 0.20  no severe multicollinearity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9C4F15-0E30-A862-7F65-6C555744A944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30480" y="3045600"/>
              <a:ext cx="11499120" cy="2789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9C4F15-0E30-A862-7F65-6C555744A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120" y="3036240"/>
                <a:ext cx="11517840" cy="28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315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06"/>
    </mc:Choice>
    <mc:Fallback xmlns="">
      <p:transition spd="slow" advTm="580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95EAA6-8A6A-E0BC-B8F6-C1DD79C0E3C9}"/>
              </a:ext>
            </a:extLst>
          </p:cNvPr>
          <p:cNvSpPr/>
          <p:nvPr/>
        </p:nvSpPr>
        <p:spPr>
          <a:xfrm>
            <a:off x="1691164" y="5776121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Preliminary Linear Regression Model (Untransformed Outcome)</a:t>
            </a:r>
            <a:endParaRPr lang="en-US" sz="3200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0B2A4A"/>
                </a:solidFill>
                <a:latin typeface="Calibri"/>
              </a:rPr>
              <a:t>888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606B"/>
                </a:solidFill>
                <a:latin typeface="Calibri"/>
              </a:rPr>
              <a:t>Sample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2D9C6B"/>
                </a:solidFill>
                <a:latin typeface="Calibri"/>
              </a:rPr>
              <a:t>&lt;.0001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>
                <a:solidFill>
                  <a:srgbClr val="55606B"/>
                </a:solidFill>
                <a:latin typeface="Calibri"/>
              </a:rPr>
              <a:t>F Test </a:t>
            </a:r>
            <a:r>
              <a:rPr sz="1200" b="0">
                <a:solidFill>
                  <a:srgbClr val="55606B"/>
                </a:solidFill>
                <a:latin typeface="Calibri"/>
              </a:rPr>
              <a:t>p-value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E86A59"/>
                </a:solidFill>
                <a:latin typeface="Calibri"/>
              </a:rPr>
              <a:t>0.046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606B"/>
                </a:solidFill>
                <a:latin typeface="Calibri"/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55606B"/>
                </a:solidFill>
                <a:latin typeface="Calibri"/>
              </a:rPr>
              <a:t>3.48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606B"/>
                </a:solidFill>
                <a:latin typeface="Calibri"/>
              </a:rPr>
              <a:t>Root 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828E"/>
                </a:solidFill>
                <a:latin typeface="Calibri"/>
              </a:rPr>
              <a:t>SIGNIFICANT PREDICTORS (</a:t>
            </a:r>
            <a:r>
              <a:rPr lang="en-US" sz="1400" b="1">
                <a:solidFill>
                  <a:srgbClr val="14828E"/>
                </a:solidFill>
                <a:latin typeface="Calibri"/>
              </a:rPr>
              <a:t>F</a:t>
            </a:r>
            <a:r>
              <a:rPr sz="1400" b="1">
                <a:solidFill>
                  <a:srgbClr val="14828E"/>
                </a:solidFill>
                <a:latin typeface="Calibri"/>
              </a:rPr>
              <a:t>ull </a:t>
            </a:r>
            <a:r>
              <a:rPr lang="en-US" sz="1400" b="1">
                <a:solidFill>
                  <a:srgbClr val="14828E"/>
                </a:solidFill>
                <a:latin typeface="Calibri"/>
              </a:rPr>
              <a:t>M</a:t>
            </a:r>
            <a:r>
              <a:rPr sz="1400" b="1">
                <a:solidFill>
                  <a:srgbClr val="14828E"/>
                </a:solidFill>
                <a:latin typeface="Calibri"/>
              </a:rPr>
              <a:t>ain</a:t>
            </a:r>
            <a:r>
              <a:rPr lang="en-US" sz="1400" b="1">
                <a:solidFill>
                  <a:srgbClr val="14828E"/>
                </a:solidFill>
                <a:latin typeface="Calibri"/>
              </a:rPr>
              <a:t> E</a:t>
            </a:r>
            <a:r>
              <a:rPr sz="1400" b="1">
                <a:solidFill>
                  <a:srgbClr val="14828E"/>
                </a:solidFill>
                <a:latin typeface="Calibri"/>
              </a:rPr>
              <a:t>ffects </a:t>
            </a:r>
            <a:r>
              <a:rPr lang="en-US" sz="1400" b="1">
                <a:solidFill>
                  <a:srgbClr val="14828E"/>
                </a:solidFill>
                <a:latin typeface="Calibri"/>
              </a:rPr>
              <a:t>M</a:t>
            </a:r>
            <a:r>
              <a:rPr sz="1400" b="1">
                <a:solidFill>
                  <a:srgbClr val="14828E"/>
                </a:solidFill>
                <a:latin typeface="Calibri"/>
              </a:rPr>
              <a:t>odel)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40843"/>
              </p:ext>
            </p:extLst>
          </p:nvPr>
        </p:nvGraphicFramePr>
        <p:xfrm>
          <a:off x="472287" y="3251252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Predictor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Estimate (</a:t>
                      </a:r>
                      <a:r>
                        <a:rPr lang="el-GR" sz="1200" b="1"/>
                        <a:t>β)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differ_3 (poor vs. well)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+1.94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(1.01, 2.87)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&lt;0.0001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extent_4 (contiguous vs. submucosa)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+2.20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(0.23, 4.17)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extent_3 (serosa vs. submucosa)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+1.94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(0.34, 3.55)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0.018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differ_2 (moderate vs. well)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+0.79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(0.02, 1.57)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0.045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-0.025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(-0.044, -0.005)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479607" y="5730235"/>
            <a:ext cx="6585585" cy="79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Model is statistically significant but explains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very little variability (</a:t>
            </a:r>
            <a:r>
              <a:rPr lang="en-US" sz="1250" b="1">
                <a:solidFill>
                  <a:srgbClr val="55606B"/>
                </a:solidFill>
              </a:rPr>
              <a:t>R²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= 0.046)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50" b="0">
                <a:solidFill>
                  <a:srgbClr val="55606B"/>
                </a:solidFill>
                <a:latin typeface="Calibri"/>
              </a:rPr>
              <a:t>Of the four primary local-disease markers,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 only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extent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 reached significance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b="1">
                <a:solidFill>
                  <a:srgbClr val="55606B"/>
                </a:solidFill>
                <a:latin typeface="Calibri"/>
              </a:rPr>
              <a:t>Obstruction, perforation, and adherence were not significant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50" b="0">
                <a:solidFill>
                  <a:srgbClr val="55606B"/>
                </a:solidFill>
                <a:latin typeface="Calibri"/>
              </a:rPr>
              <a:t>Results suggest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limited explanatory power 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using the untransformed outcome</a:t>
            </a:r>
            <a:endParaRPr sz="1250" b="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3A2D9-AFD7-C99F-F162-62BE8AA6432C}"/>
              </a:ext>
            </a:extLst>
          </p:cNvPr>
          <p:cNvSpPr txBox="1"/>
          <p:nvPr/>
        </p:nvSpPr>
        <p:spPr>
          <a:xfrm>
            <a:off x="1796415" y="5863572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19D3FBD-640A-2661-D403-186775F32FE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023720" y="2441160"/>
              <a:ext cx="4048200" cy="129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19D3FBD-640A-2661-D403-186775F32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4360" y="2431800"/>
                <a:ext cx="4066920" cy="14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38"/>
    </mc:Choice>
    <mc:Fallback xmlns="">
      <p:transition spd="slow" advTm="434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  <a:endParaRPr sz="11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Model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960120"/>
          </a:xfrm>
          <a:prstGeom prst="rect">
            <a:avLst/>
          </a:prstGeom>
          <a:solidFill>
            <a:srgbClr val="E86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2854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ONE </a:t>
            </a:r>
            <a:r>
              <a:rPr lang="en-US" sz="1400">
                <a:solidFill>
                  <a:srgbClr val="FFFFFF"/>
                </a:solidFill>
                <a:latin typeface="Calibri"/>
              </a:rPr>
              <a:t>PRIMARY </a:t>
            </a:r>
            <a:r>
              <a:rPr sz="1400">
                <a:solidFill>
                  <a:srgbClr val="FFFFFF"/>
                </a:solidFill>
                <a:latin typeface="Calibri"/>
              </a:rPr>
              <a:t>ASSUMPTION </a:t>
            </a:r>
            <a:r>
              <a:rPr sz="1400" b="1" u="sng">
                <a:solidFill>
                  <a:srgbClr val="FFFFFF"/>
                </a:solidFill>
                <a:latin typeface="Calibri"/>
              </a:rPr>
              <a:t>VIOLATED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4018"/>
            <a:ext cx="98755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>
                <a:solidFill>
                  <a:srgbClr val="FFFFFF"/>
                </a:solidFill>
                <a:latin typeface="Calibri"/>
              </a:rPr>
              <a:t>Residuals are </a:t>
            </a:r>
            <a:r>
              <a:rPr lang="en-US" sz="1500">
                <a:solidFill>
                  <a:srgbClr val="FFFFFF"/>
                </a:solidFill>
                <a:latin typeface="Calibri"/>
              </a:rPr>
              <a:t>non-normal and </a:t>
            </a:r>
            <a:r>
              <a:rPr sz="1500">
                <a:solidFill>
                  <a:srgbClr val="FFFFFF"/>
                </a:solidFill>
                <a:latin typeface="Calibri"/>
              </a:rPr>
              <a:t>heavily right</a:t>
            </a:r>
            <a:r>
              <a:rPr lang="en-US" sz="1500">
                <a:solidFill>
                  <a:srgbClr val="FFFFFF"/>
                </a:solidFill>
                <a:latin typeface="Calibri"/>
              </a:rPr>
              <a:t> </a:t>
            </a:r>
            <a:r>
              <a:rPr sz="1500">
                <a:solidFill>
                  <a:srgbClr val="FFFFFF"/>
                </a:solidFill>
                <a:latin typeface="Calibri"/>
              </a:rPr>
              <a:t>skewed (Shapiro-Wilk W = 0.79)  →  </a:t>
            </a:r>
            <a:r>
              <a:rPr lang="en-US" sz="1500">
                <a:solidFill>
                  <a:srgbClr val="FFFFFF"/>
                </a:solidFill>
                <a:latin typeface="Calibri"/>
              </a:rPr>
              <a:t>evaluate transformation (via Box-Cox)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FFFFFF"/>
                </a:solidFill>
                <a:latin typeface="Calibri"/>
              </a:rPr>
              <a:t>Evidence of heteroscedasticity from White’s Test (p &lt; 0.0001), though Breusch-Pagan is not significant</a:t>
            </a:r>
            <a:endParaRPr sz="150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211818"/>
              </p:ext>
            </p:extLst>
          </p:nvPr>
        </p:nvGraphicFramePr>
        <p:xfrm>
          <a:off x="457200" y="27432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Normality of residuals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Shapiro-Wilk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W = 0.79, p &lt; 0.0001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VIOLATED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 rowSpan="2"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Constant variance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Breusch-Pagan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p </a:t>
                      </a:r>
                      <a:r>
                        <a:rPr lang="en-US" sz="1250">
                          <a:solidFill>
                            <a:srgbClr val="0B2A4A"/>
                          </a:solidFill>
                          <a:latin typeface="Calibri"/>
                        </a:rPr>
                        <a:t>=0.1880</a:t>
                      </a:r>
                      <a:endParaRPr sz="125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 vMerge="1">
                  <a:txBody>
                    <a:bodyPr/>
                    <a:lstStyle/>
                    <a:p>
                      <a:endParaRPr sz="12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White's test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p </a:t>
                      </a:r>
                      <a:r>
                        <a:rPr lang="en-US" sz="1250">
                          <a:solidFill>
                            <a:srgbClr val="0B2A4A"/>
                          </a:solidFill>
                          <a:latin typeface="Calibri"/>
                        </a:rPr>
                        <a:t>&lt;0.0001</a:t>
                      </a:r>
                      <a:endParaRPr sz="125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50" b="1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POSSIBLE VIOLATION (MIXED)</a:t>
                      </a:r>
                      <a:endParaRPr sz="1250" b="1" kern="1200">
                        <a:solidFill>
                          <a:srgbClr val="0B2A4A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Linearity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Residual plots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No </a:t>
                      </a:r>
                      <a:r>
                        <a:rPr lang="en-US" sz="1250">
                          <a:solidFill>
                            <a:srgbClr val="0B2A4A"/>
                          </a:solidFill>
                          <a:latin typeface="Calibri"/>
                        </a:rPr>
                        <a:t>evidence of non-linearity (</a:t>
                      </a:r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curvature</a:t>
                      </a:r>
                      <a:r>
                        <a:rPr lang="en-US" sz="1250">
                          <a:solidFill>
                            <a:srgbClr val="0B2A4A"/>
                          </a:solidFill>
                          <a:latin typeface="Calibri"/>
                        </a:rPr>
                        <a:t>)</a:t>
                      </a:r>
                      <a:endParaRPr sz="125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Independence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Cross-sectional design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50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Assumption satisfied by study design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A4A"/>
                          </a:solidFill>
                          <a:latin typeface="Calibri"/>
                        </a:rPr>
                        <a:t>Multicollinearity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VIF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All VIF &lt; 7.5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2A4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12648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Detailed diagnostics provided in the Appendix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0846812-9A17-A867-6A55-14E114748BEF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007720" y="3086280"/>
              <a:ext cx="8951040" cy="2780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0846812-9A17-A867-6A55-14E114748B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8360" y="3076920"/>
                <a:ext cx="8969760" cy="279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73"/>
    </mc:Choice>
    <mc:Fallback xmlns="">
      <p:transition spd="slow" advTm="55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  <a:r>
              <a:rPr sz="1100" b="1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Influential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828E"/>
                </a:solidFill>
                <a:latin typeface="Calibri"/>
              </a:rPr>
              <a:t>FINDINGS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2103120"/>
                <a:ext cx="5669280" cy="1692771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Cook’s D, DFFITS, DFBETAS evaluated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max(Cook’s D) = 0.08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n-US" sz="1400" b="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exceeds 4/n (≈ 0.0045 ) cutoff but remains far below 1; no highly influential observations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1400" b="1">
                    <a:solidFill>
                      <a:srgbClr val="0B2A4A"/>
                    </a:solidFill>
                    <a:latin typeface="Calibri"/>
                  </a:rPr>
                  <a:t>100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 observations flagged, but with low influence magnitude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Flagged observations include patients with the highest number of positive   lymph nodes (e.g., Y = 22, 27, 33)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03120"/>
                <a:ext cx="5669280" cy="1692771"/>
              </a:xfrm>
              <a:prstGeom prst="rect">
                <a:avLst/>
              </a:prstGeom>
              <a:blipFill>
                <a:blip r:embed="rId5"/>
                <a:stretch>
                  <a:fillRect l="-1935" t="-1079" r="-1613" b="-2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00800" y="169164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828E"/>
                </a:solidFill>
                <a:latin typeface="Calibri"/>
              </a:rPr>
              <a:t>SENSITIVITY</a:t>
            </a:r>
            <a:r>
              <a:rPr sz="1100" b="1">
                <a:solidFill>
                  <a:srgbClr val="14828E"/>
                </a:solidFill>
                <a:latin typeface="Calibri"/>
              </a:rPr>
              <a:t> </a:t>
            </a:r>
            <a:r>
              <a:rPr sz="1400" b="1">
                <a:solidFill>
                  <a:srgbClr val="14828E"/>
                </a:solidFill>
                <a:latin typeface="Calibri"/>
              </a:rPr>
              <a:t>REFIT</a:t>
            </a:r>
            <a:r>
              <a:rPr sz="1100" b="1">
                <a:solidFill>
                  <a:srgbClr val="14828E"/>
                </a:solidFill>
                <a:latin typeface="Calibri"/>
              </a:rPr>
              <a:t>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968540"/>
              </p:ext>
            </p:extLst>
          </p:nvPr>
        </p:nvGraphicFramePr>
        <p:xfrm>
          <a:off x="6400800" y="21031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Full N=888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Excluded N=777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4A"/>
                          </a:solidFill>
                          <a:latin typeface="Calibri"/>
                        </a:rPr>
                        <a:t>perfor levels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1 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4A"/>
                          </a:solidFill>
                          <a:latin typeface="Calibri"/>
                        </a:rPr>
                        <a:t>extent levels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3 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0B2A4A"/>
                          </a:solidFill>
                          <a:latin typeface="Calibri"/>
                        </a:rPr>
                        <a:t>Model Matrix (X’X)</a:t>
                      </a:r>
                      <a:endParaRPr sz="1300" b="1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Estimable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0B2A4A"/>
                          </a:solidFill>
                          <a:latin typeface="Calibri"/>
                        </a:rPr>
                        <a:t>Singular</a:t>
                      </a:r>
                      <a:endParaRPr sz="13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054488"/>
            <a:ext cx="54864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>
                <a:solidFill>
                  <a:schemeClr val="bg1">
                    <a:lumMod val="50000"/>
                  </a:schemeClr>
                </a:solidFill>
              </a:rPr>
              <a:t>Excluding flagged observations eliminated entire predictor categories (perforation and submucosa-only extent), resulting in a degenerate (singular)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56247"/>
            <a:ext cx="11247120" cy="1090273"/>
          </a:xfrm>
          <a:prstGeom prst="rect">
            <a:avLst/>
          </a:prstGeom>
          <a:solidFill>
            <a:srgbClr val="2D9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423729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9203"/>
            <a:ext cx="1085664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Retain all observations and address skewness through outcome transformation (to be determined via Box–Cox analysis)</a:t>
            </a:r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D56A21B-D940-D1E5-B2DF-AD5F99EEFCB4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475920" y="2683440"/>
              <a:ext cx="3507840" cy="298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D56A21B-D940-D1E5-B2DF-AD5F99EEFC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6560" y="2674080"/>
                <a:ext cx="3526560" cy="31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45"/>
    </mc:Choice>
    <mc:Fallback xmlns="">
      <p:transition spd="slow" advTm="50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1091-342B-FC41-672F-2D51F0CB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D73A709-9054-1302-D6E8-E3FC999163B1}"/>
              </a:ext>
            </a:extLst>
          </p:cNvPr>
          <p:cNvSpPr/>
          <p:nvPr/>
        </p:nvSpPr>
        <p:spPr>
          <a:xfrm>
            <a:off x="418060" y="5923497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206DB-CB67-30AA-81F3-FC0232AA8B3A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7578F-C670-94BA-4100-8B6E753C4107}"/>
              </a:ext>
            </a:extLst>
          </p:cNvPr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1AC5C-5D4A-46CF-919D-D225750F0B04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FB431-4473-93ED-166A-5675B142FB91}"/>
              </a:ext>
            </a:extLst>
          </p:cNvPr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Final Transformation Selection</a:t>
            </a:r>
            <a:r>
              <a:rPr lang="en-US" sz="320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05319-054C-AEE0-AB98-347403665B9F}"/>
              </a:ext>
            </a:extLst>
          </p:cNvPr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2B57E2-3CF0-8CE9-5F5D-7600521B8546}"/>
              </a:ext>
            </a:extLst>
          </p:cNvPr>
          <p:cNvSpPr txBox="1"/>
          <p:nvPr/>
        </p:nvSpPr>
        <p:spPr>
          <a:xfrm>
            <a:off x="3031005" y="6065377"/>
            <a:ext cx="8988541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50">
                <a:solidFill>
                  <a:srgbClr val="55606B"/>
                </a:solidFill>
                <a:latin typeface="Calibri"/>
              </a:rPr>
              <a:t>Although λ ≈ −0.5 maximized likelihood, the evidence was weak. We prioritized interpretability and selected a log transformation, which adequately stabilizes variance and improves normality.</a:t>
            </a:r>
            <a:endParaRPr sz="125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2BA9F1-191D-2D08-EEC3-8820E0BB1474}"/>
              </a:ext>
            </a:extLst>
          </p:cNvPr>
          <p:cNvSpPr txBox="1"/>
          <p:nvPr/>
        </p:nvSpPr>
        <p:spPr>
          <a:xfrm>
            <a:off x="470686" y="6001455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CA7A6-4392-7C51-A6DC-F6D9901474C9}"/>
              </a:ext>
            </a:extLst>
          </p:cNvPr>
          <p:cNvSpPr txBox="1"/>
          <p:nvPr/>
        </p:nvSpPr>
        <p:spPr>
          <a:xfrm>
            <a:off x="457200" y="1462159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14828E"/>
                </a:solidFill>
                <a:latin typeface="Calibri"/>
              </a:rPr>
              <a:t>BOX-COX </a:t>
            </a:r>
            <a:r>
              <a:rPr sz="1400" b="1">
                <a:solidFill>
                  <a:srgbClr val="14828E"/>
                </a:solidFill>
                <a:latin typeface="Calibri"/>
              </a:rPr>
              <a:t>FINDINGS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E2F9F3-D643-CC53-EC99-3445EDABA17B}"/>
                  </a:ext>
                </a:extLst>
              </p:cNvPr>
              <p:cNvSpPr txBox="1"/>
              <p:nvPr/>
            </p:nvSpPr>
            <p:spPr>
              <a:xfrm>
                <a:off x="463943" y="1690301"/>
                <a:ext cx="6100010" cy="943848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Maximum likelihood estimate: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 = - 0.5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Profile likelihood confidence interval: wide 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Indicates no strong evidence that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0B2A4A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 = </a:t>
                </a:r>
                <a:r>
                  <a:rPr lang="en-US" sz="1400">
                    <a:solidFill>
                      <a:srgbClr val="0B2A4A"/>
                    </a:solidFill>
                  </a:rPr>
                  <a:t>- 0.5 outperforms simpler alternatives</a:t>
                </a:r>
                <a:endParaRPr lang="en-US" sz="1400">
                  <a:solidFill>
                    <a:srgbClr val="0B2A4A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E2F9F3-D643-CC53-EC99-3445EDABA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43" y="1690301"/>
                <a:ext cx="6100010" cy="943848"/>
              </a:xfrm>
              <a:prstGeom prst="rect">
                <a:avLst/>
              </a:prstGeom>
              <a:blipFill>
                <a:blip r:embed="rId5"/>
                <a:stretch>
                  <a:fillRect l="-1798" t="-1290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9EAEB1F-804B-F082-C2A7-3AF265D6A5DC}"/>
              </a:ext>
            </a:extLst>
          </p:cNvPr>
          <p:cNvSpPr txBox="1"/>
          <p:nvPr/>
        </p:nvSpPr>
        <p:spPr>
          <a:xfrm>
            <a:off x="463943" y="2694941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14828E"/>
                </a:solidFill>
                <a:latin typeface="Calibri"/>
              </a:rPr>
              <a:t>DECISION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3F9DD1-0DAB-0AB0-3587-8FB07C78D684}"/>
                  </a:ext>
                </a:extLst>
              </p:cNvPr>
              <p:cNvSpPr txBox="1"/>
              <p:nvPr/>
            </p:nvSpPr>
            <p:spPr>
              <a:xfrm>
                <a:off x="457200" y="2972968"/>
                <a:ext cx="6100010" cy="1579920"/>
              </a:xfrm>
              <a:prstGeom prst="rect">
                <a:avLst/>
              </a:prstGeom>
              <a:noFill/>
            </p:spPr>
            <p:txBody>
              <a:bodyPr wrap="square" lIns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Selected :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 = 0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 log (nodes+1) transformation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400" b="1">
                    <a:solidFill>
                      <a:srgbClr val="14828E"/>
                    </a:solidFill>
                  </a:rPr>
                  <a:t>▸ </a:t>
                </a: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Chosen for:</a:t>
                </a:r>
              </a:p>
              <a:p>
                <a:pPr marL="742950" lvl="1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Parsimony</a:t>
                </a:r>
              </a:p>
              <a:p>
                <a:pPr marL="742950" lvl="1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Interpretability</a:t>
                </a:r>
              </a:p>
              <a:p>
                <a:pPr marL="742950" lvl="1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1400">
                    <a:solidFill>
                      <a:srgbClr val="0B2A4A"/>
                    </a:solidFill>
                    <a:latin typeface="Calibri"/>
                  </a:rPr>
                  <a:t>Comparable statistical support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3F9DD1-0DAB-0AB0-3587-8FB07C78D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72968"/>
                <a:ext cx="6100010" cy="1579920"/>
              </a:xfrm>
              <a:prstGeom prst="rect">
                <a:avLst/>
              </a:prstGeom>
              <a:blipFill>
                <a:blip r:embed="rId6"/>
                <a:stretch>
                  <a:fillRect l="-1798" t="-1158" b="-3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F05D9FE1-D445-86C2-12B7-251D1F711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9308" y="1156878"/>
            <a:ext cx="5528846" cy="415979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C2822E-3590-E4C5-33CA-48BBD7397E4B}"/>
              </a:ext>
            </a:extLst>
          </p:cNvPr>
          <p:cNvSpPr txBox="1"/>
          <p:nvPr/>
        </p:nvSpPr>
        <p:spPr>
          <a:xfrm>
            <a:off x="470686" y="4592348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14828E"/>
                </a:solidFill>
                <a:latin typeface="Calibri"/>
              </a:rPr>
              <a:t>INTERPRETATION ADVANTAGE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D17B0B-436D-C151-E25D-A105A344A66B}"/>
              </a:ext>
            </a:extLst>
          </p:cNvPr>
          <p:cNvSpPr txBox="1"/>
          <p:nvPr/>
        </p:nvSpPr>
        <p:spPr>
          <a:xfrm>
            <a:off x="457200" y="4857450"/>
            <a:ext cx="6100010" cy="9438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 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Effects are interpreted on a relative (multiplicative) scale</a:t>
            </a:r>
          </a:p>
          <a:p>
            <a:pPr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Preserves clinical meaning of lymph node burden</a:t>
            </a:r>
          </a:p>
          <a:p>
            <a:pPr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Avoids overfitting from unnecessary transformation complexity</a:t>
            </a:r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C6EC72-D09A-D92E-1238-D7CA9C67540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814400" y="2063160"/>
              <a:ext cx="2209680" cy="2192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C6EC72-D09A-D92E-1238-D7CA9C6754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5040" y="2053800"/>
                <a:ext cx="2228400" cy="22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45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18"/>
    </mc:Choice>
    <mc:Fallback xmlns="">
      <p:transition spd="slow" advTm="449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21F2-5B90-DF80-4CC9-E10B4A5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ADF8328-58FC-CCE3-F6DC-C7915286F6A8}"/>
              </a:ext>
            </a:extLst>
          </p:cNvPr>
          <p:cNvSpPr/>
          <p:nvPr/>
        </p:nvSpPr>
        <p:spPr>
          <a:xfrm>
            <a:off x="1019651" y="5711275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99D18-2412-49E6-E145-0A71044E4418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E56C-DE91-05B6-8A69-ABB38AA0C8B0}"/>
              </a:ext>
            </a:extLst>
          </p:cNvPr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FE684A-2F2C-021F-A296-A171B5FEE271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FC2EC-31C2-A962-BCE3-C71C980C07C6}"/>
              </a:ext>
            </a:extLst>
          </p:cNvPr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Log-Transformed Linear Regression Model (Y = log(nodes + 1))</a:t>
            </a:r>
            <a:endParaRPr lang="en-US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B4E3E-0EF3-6DE3-9B1F-EE32102045B8}"/>
              </a:ext>
            </a:extLst>
          </p:cNvPr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E3F5C-674E-3A00-3E0B-6FFC35A8B480}"/>
              </a:ext>
            </a:extLst>
          </p:cNvPr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D6FAC-CDF7-EF90-12EA-BE929E48725B}"/>
              </a:ext>
            </a:extLst>
          </p:cNvPr>
          <p:cNvSpPr txBox="1"/>
          <p:nvPr/>
        </p:nvSpPr>
        <p:spPr>
          <a:xfrm>
            <a:off x="77724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0B2A4A"/>
                </a:solidFill>
                <a:latin typeface="Calibri"/>
              </a:rPr>
              <a:t>888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60F25-FDD7-CD93-83F1-34BFC319BCF1}"/>
              </a:ext>
            </a:extLst>
          </p:cNvPr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606B"/>
                </a:solidFill>
                <a:latin typeface="Calibri"/>
              </a:rPr>
              <a:t>Sample size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D01D7B-8746-0D63-CB1F-99AF5FDC32E7}"/>
              </a:ext>
            </a:extLst>
          </p:cNvPr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F7844-CB28-5D8A-D8A6-6D81ADE50C18}"/>
              </a:ext>
            </a:extLst>
          </p:cNvPr>
          <p:cNvSpPr txBox="1"/>
          <p:nvPr/>
        </p:nvSpPr>
        <p:spPr>
          <a:xfrm>
            <a:off x="347472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2D9C6B"/>
                </a:solidFill>
                <a:latin typeface="Calibri"/>
              </a:rPr>
              <a:t>&lt;.0001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13085-87CD-220E-426F-B52D638E6738}"/>
              </a:ext>
            </a:extLst>
          </p:cNvPr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>
                <a:solidFill>
                  <a:srgbClr val="55606B"/>
                </a:solidFill>
                <a:latin typeface="Calibri"/>
              </a:rPr>
              <a:t>F Test </a:t>
            </a:r>
            <a:r>
              <a:rPr sz="1200" b="0">
                <a:solidFill>
                  <a:srgbClr val="55606B"/>
                </a:solidFill>
                <a:latin typeface="Calibri"/>
              </a:rPr>
              <a:t>p-value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2CB31-7C8E-CED7-049A-E8CCA617BCD1}"/>
              </a:ext>
            </a:extLst>
          </p:cNvPr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FAEFE-83BB-0BBB-29C4-903424358B98}"/>
              </a:ext>
            </a:extLst>
          </p:cNvPr>
          <p:cNvSpPr txBox="1"/>
          <p:nvPr/>
        </p:nvSpPr>
        <p:spPr>
          <a:xfrm>
            <a:off x="617220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>
                <a:solidFill>
                  <a:srgbClr val="E86A59"/>
                </a:solidFill>
                <a:latin typeface="Calibri"/>
              </a:rPr>
              <a:t>0.052 (</a:t>
            </a:r>
            <a:r>
              <a:rPr sz="3200" b="1">
                <a:solidFill>
                  <a:srgbClr val="E86A59"/>
                </a:solidFill>
                <a:latin typeface="Calibri"/>
              </a:rPr>
              <a:t>0.0</a:t>
            </a:r>
            <a:r>
              <a:rPr lang="en-US" sz="3200" b="1">
                <a:solidFill>
                  <a:srgbClr val="E86A59"/>
                </a:solidFill>
                <a:latin typeface="Calibri"/>
              </a:rPr>
              <a:t>38)</a:t>
            </a:r>
            <a:endParaRPr sz="3200" b="1">
              <a:solidFill>
                <a:srgbClr val="E86A59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56441-6BD1-B1E6-2289-8EEFE3B406AC}"/>
              </a:ext>
            </a:extLst>
          </p:cNvPr>
          <p:cNvSpPr txBox="1"/>
          <p:nvPr/>
        </p:nvSpPr>
        <p:spPr>
          <a:xfrm>
            <a:off x="617220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</a:rPr>
              <a:t>R²  (</a:t>
            </a:r>
            <a:r>
              <a:rPr lang="en-US" sz="1200" b="0">
                <a:solidFill>
                  <a:srgbClr val="55606B"/>
                </a:solidFill>
                <a:latin typeface="Calibri"/>
              </a:rPr>
              <a:t>Adjusted </a:t>
            </a:r>
            <a:r>
              <a:rPr sz="1200" b="0">
                <a:solidFill>
                  <a:srgbClr val="55606B"/>
                </a:solidFill>
                <a:latin typeface="Calibri"/>
              </a:rPr>
              <a:t>R²</a:t>
            </a:r>
            <a:r>
              <a:rPr lang="en-US" sz="1200" b="0">
                <a:solidFill>
                  <a:srgbClr val="55606B"/>
                </a:solidFill>
                <a:latin typeface="Calibri"/>
              </a:rPr>
              <a:t>)</a:t>
            </a:r>
            <a:endParaRPr sz="1200" b="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F4214-22B4-B972-6FCD-B6E655324A0B}"/>
              </a:ext>
            </a:extLst>
          </p:cNvPr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E345D-F141-8DD4-224F-E8BC0B91A70A}"/>
              </a:ext>
            </a:extLst>
          </p:cNvPr>
          <p:cNvSpPr txBox="1"/>
          <p:nvPr/>
        </p:nvSpPr>
        <p:spPr>
          <a:xfrm>
            <a:off x="886968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>
                <a:solidFill>
                  <a:srgbClr val="55606B"/>
                </a:solidFill>
                <a:latin typeface="Calibri"/>
              </a:rPr>
              <a:t>0.0588</a:t>
            </a:r>
            <a:endParaRPr sz="3200" b="1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CCD28-382B-C6A8-962B-82564684EBAC}"/>
              </a:ext>
            </a:extLst>
          </p:cNvPr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606B"/>
                </a:solidFill>
                <a:latin typeface="Calibri"/>
              </a:rPr>
              <a:t>Root MSE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33A7BD-AB8E-AA7F-A3B8-238AA3705B26}"/>
              </a:ext>
            </a:extLst>
          </p:cNvPr>
          <p:cNvSpPr txBox="1"/>
          <p:nvPr/>
        </p:nvSpPr>
        <p:spPr>
          <a:xfrm>
            <a:off x="548640" y="28803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828E"/>
                </a:solidFill>
                <a:latin typeface="Calibri"/>
              </a:rPr>
              <a:t>SIGNIFICANT PREDICTORS (</a:t>
            </a:r>
            <a:r>
              <a:rPr lang="en-US" sz="1400" b="1">
                <a:solidFill>
                  <a:srgbClr val="14828E"/>
                </a:solidFill>
                <a:latin typeface="Calibri"/>
              </a:rPr>
              <a:t>Log-Transformed Linear Regression M</a:t>
            </a:r>
            <a:r>
              <a:rPr sz="1400" b="1">
                <a:solidFill>
                  <a:srgbClr val="14828E"/>
                </a:solidFill>
                <a:latin typeface="Calibri"/>
              </a:rPr>
              <a:t>odel)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4FB6852-F117-681A-09D8-3378513497C4}"/>
              </a:ext>
            </a:extLst>
          </p:cNvPr>
          <p:cNvGraphicFramePr>
            <a:graphicFrameLocks noGrp="1"/>
          </p:cNvGraphicFramePr>
          <p:nvPr/>
        </p:nvGraphicFramePr>
        <p:xfrm>
          <a:off x="472287" y="3251252"/>
          <a:ext cx="1124712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Predictor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Estimate (</a:t>
                      </a:r>
                      <a:r>
                        <a:rPr lang="el-GR" sz="1200" b="1"/>
                        <a:t>β)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200" b="1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extent_3 (serosa vs submucosa)</a:t>
                      </a:r>
                      <a:endParaRPr sz="1200" b="1" kern="1200">
                        <a:solidFill>
                          <a:srgbClr val="0B2A4A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0.37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0.08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, 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0.64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0.0077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differ_3 (poor vs well)</a:t>
                      </a:r>
                      <a:endParaRPr sz="1200" b="1" kern="1200">
                        <a:solidFill>
                          <a:srgbClr val="0B2A4A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0.32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(0.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16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, 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0.48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B2A4A"/>
                          </a:solidFill>
                          <a:latin typeface="+mn-lt"/>
                        </a:rPr>
                        <a:t>&lt;0.0001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differ_2 (moderate vs well)</a:t>
                      </a:r>
                      <a:endParaRPr sz="1200" b="1" kern="1200">
                        <a:solidFill>
                          <a:srgbClr val="0B2A4A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+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0.13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(0.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00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, 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0.26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0.0458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>
                          <a:solidFill>
                            <a:srgbClr val="0B2A4A"/>
                          </a:solidFill>
                          <a:latin typeface="Calibri"/>
                          <a:ea typeface="+mn-ea"/>
                          <a:cs typeface="+mn-cs"/>
                        </a:rPr>
                        <a:t>age</a:t>
                      </a:r>
                      <a:endParaRPr sz="1200" b="1" kern="1200">
                        <a:solidFill>
                          <a:srgbClr val="0B2A4A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-0.005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(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-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08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, </a:t>
                      </a:r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-0.002</a:t>
                      </a:r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B2A4A"/>
                          </a:solidFill>
                          <a:latin typeface="Calibri"/>
                        </a:rPr>
                        <a:t>0.0013</a:t>
                      </a:r>
                      <a:endParaRPr sz="1200">
                        <a:solidFill>
                          <a:srgbClr val="0B2A4A"/>
                        </a:solidFill>
                        <a:latin typeface="Calibri"/>
                      </a:endParaRP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F87A5A1-9084-C465-4044-87A3757313CF}"/>
              </a:ext>
            </a:extLst>
          </p:cNvPr>
          <p:cNvSpPr txBox="1"/>
          <p:nvPr/>
        </p:nvSpPr>
        <p:spPr>
          <a:xfrm>
            <a:off x="4647726" y="5628055"/>
            <a:ext cx="6000222" cy="79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Model is statistically significant but explains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limited variability (Adjusted </a:t>
            </a:r>
            <a:r>
              <a:rPr lang="en-US" sz="1250" b="1">
                <a:solidFill>
                  <a:srgbClr val="55606B"/>
                </a:solidFill>
              </a:rPr>
              <a:t>R²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= 0.038)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50" b="1">
                <a:solidFill>
                  <a:srgbClr val="55606B"/>
                </a:solidFill>
                <a:latin typeface="Calibri"/>
              </a:rPr>
              <a:t>Extent of invasion </a:t>
            </a:r>
            <a:r>
              <a:rPr lang="en-US" sz="1250" b="0">
                <a:solidFill>
                  <a:srgbClr val="55606B"/>
                </a:solidFill>
                <a:latin typeface="Calibri"/>
              </a:rPr>
              <a:t>and </a:t>
            </a:r>
            <a:r>
              <a:rPr lang="en-US" sz="1250" b="1">
                <a:solidFill>
                  <a:srgbClr val="55606B"/>
                </a:solidFill>
                <a:latin typeface="Calibri"/>
              </a:rPr>
              <a:t>tumor differentiation </a:t>
            </a:r>
            <a:r>
              <a:rPr lang="en-US" sz="1250" b="0">
                <a:solidFill>
                  <a:srgbClr val="55606B"/>
                </a:solidFill>
                <a:latin typeface="Calibri"/>
              </a:rPr>
              <a:t>remain significant predictors</a:t>
            </a:r>
            <a:endParaRPr lang="en-US" sz="1250">
              <a:solidFill>
                <a:srgbClr val="55606B"/>
              </a:solidFill>
              <a:latin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Age is associated with a small decrease in lymph node burden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Effects are interpreted on a relative (multiplicative) scale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9FBF65-66D9-457C-B540-9DDDF6214DF9}"/>
              </a:ext>
            </a:extLst>
          </p:cNvPr>
          <p:cNvSpPr txBox="1"/>
          <p:nvPr/>
        </p:nvSpPr>
        <p:spPr>
          <a:xfrm>
            <a:off x="1019651" y="5739313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877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79"/>
    </mc:Choice>
    <mc:Fallback xmlns="">
      <p:transition spd="slow" advTm="6337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Transformation</a:t>
            </a:r>
            <a:r>
              <a:rPr lang="en-US" sz="3200"/>
              <a:t> </a:t>
            </a:r>
            <a:r>
              <a:rPr lang="en-US" sz="3200" b="1"/>
              <a:t>Impact and Model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0B2A4A"/>
                </a:solidFill>
                <a:latin typeface="Calibri"/>
              </a:rPr>
              <a:t>0.6</a:t>
            </a:r>
            <a:r>
              <a:rPr lang="en-US" sz="3200">
                <a:solidFill>
                  <a:srgbClr val="0B2A4A"/>
                </a:solidFill>
                <a:latin typeface="Calibri"/>
              </a:rPr>
              <a:t>3</a:t>
            </a:r>
            <a:endParaRPr sz="320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Residual skew (was 2.55)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2D9C6B"/>
                </a:solidFill>
                <a:latin typeface="Calibri"/>
              </a:rPr>
              <a:t>−0.14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Residual kurtosis (was 10.3)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0.96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Shapiro-Wilk W (was 0.79)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55606B"/>
                </a:solidFill>
                <a:latin typeface="Calibri"/>
              </a:rPr>
              <a:t>0.052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Model R² (was 0.046)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4828E"/>
                </a:solidFill>
                <a:latin typeface="Calibri"/>
              </a:rPr>
              <a:t>DIAGNOSTIC IMPROVEMENT  log(nodes + 1)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560937"/>
              </p:ext>
            </p:extLst>
          </p:nvPr>
        </p:nvGraphicFramePr>
        <p:xfrm>
          <a:off x="472287" y="3251251"/>
          <a:ext cx="6542124" cy="248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67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Diagnostic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Untransformed nodes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log(nodes + 1)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Skewness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+2.55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+0.65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≈ 4× closer to symmetric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Kurtosis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+10.3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−0.14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near-normal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Shapiro-Wilk W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0.79  (p &lt; .0001)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0.96  (p &lt; .0001)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large improvement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Residual range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−11 to +28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−1.6 to +2.2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bounded by transform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6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Lack-of-fit p (later)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0.72 (passes)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</a:rPr>
                        <a:t>linear-in-log adequate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94C398-1377-E960-4B87-3C19CDFF6653}"/>
              </a:ext>
            </a:extLst>
          </p:cNvPr>
          <p:cNvSpPr txBox="1"/>
          <p:nvPr/>
        </p:nvSpPr>
        <p:spPr>
          <a:xfrm>
            <a:off x="7250230" y="3940047"/>
            <a:ext cx="4836695" cy="1657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 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Residuals are more symmetric and closer to normal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 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Extreme values have reduced influence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</a:t>
            </a:r>
            <a:r>
              <a:rPr lang="en-US" sz="1400">
                <a:solidFill>
                  <a:srgbClr val="0B2A4A"/>
                </a:solidFill>
                <a:latin typeface="Calibri"/>
              </a:rPr>
              <a:t>Model assumptions are better satisfied after transformation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400" b="1">
                <a:solidFill>
                  <a:srgbClr val="14828E"/>
                </a:solidFill>
              </a:rPr>
              <a:t>▸</a:t>
            </a:r>
            <a:r>
              <a:rPr lang="en-US" sz="1400">
                <a:solidFill>
                  <a:srgbClr val="0B2A4A"/>
                </a:solidFill>
              </a:rPr>
              <a:t>Model fit is largely unchanged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A4416C-A4F9-CCBC-AA6F-BE6BB3D9C2AE}"/>
              </a:ext>
            </a:extLst>
          </p:cNvPr>
          <p:cNvSpPr txBox="1"/>
          <p:nvPr/>
        </p:nvSpPr>
        <p:spPr>
          <a:xfrm>
            <a:off x="7250230" y="3651812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TRANSFORMATION IMPACT ON MODEL DIAGNOSTICS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235"/>
    </mc:Choice>
    <mc:Fallback xmlns="">
      <p:transition spd="slow" advTm="4523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Partial F Test for Disease Marker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0B2A4A"/>
                </a:solidFill>
                <a:latin typeface="Calibri"/>
              </a:rPr>
              <a:t>307.64</a:t>
            </a:r>
            <a:endParaRPr sz="320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Reduced Model SSE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2D9C6B"/>
                </a:solidFill>
                <a:latin typeface="Calibri"/>
              </a:rPr>
              <a:t>303.03</a:t>
            </a:r>
            <a:endParaRPr sz="3200">
              <a:solidFill>
                <a:srgbClr val="2D9C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Full Model 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E86A59"/>
                </a:solidFill>
                <a:latin typeface="Calibri"/>
              </a:rPr>
              <a:t>2.22</a:t>
            </a:r>
            <a:endParaRPr sz="3200">
              <a:solidFill>
                <a:srgbClr val="E86A59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Partial F (Block)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55606B"/>
                </a:solidFill>
                <a:latin typeface="Calibri"/>
              </a:rPr>
              <a:t>0.040</a:t>
            </a:r>
            <a:endParaRPr sz="3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</a:rPr>
              <a:t>Block-test p-value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59"/>
            <a:ext cx="11425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OBJECTIVE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525963"/>
            <a:ext cx="5425441" cy="796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b="1">
                <a:solidFill>
                  <a:srgbClr val="55606B"/>
                </a:solidFill>
                <a:latin typeface="Calibri"/>
              </a:rPr>
              <a:t>Reduced Model: 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age, sex, tumor differentiation (differ), treatment (</a:t>
            </a:r>
            <a:r>
              <a:rPr lang="en-US" sz="1250" err="1">
                <a:solidFill>
                  <a:srgbClr val="55606B"/>
                </a:solidFill>
                <a:latin typeface="Calibri"/>
              </a:rPr>
              <a:t>rx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), surgery (surg)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 b="1">
                <a:solidFill>
                  <a:srgbClr val="55606B"/>
                </a:solidFill>
                <a:latin typeface="Calibri"/>
              </a:rPr>
              <a:t>Full model: </a:t>
            </a:r>
            <a:r>
              <a:rPr lang="en-US" sz="1250">
                <a:solidFill>
                  <a:srgbClr val="55606B"/>
                </a:solidFill>
                <a:latin typeface="Calibri"/>
              </a:rPr>
              <a:t>covariates + disease markers (obstruction, perforation, adherence, extent)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7FF0E1-3EDA-4937-516E-08031D2ECF4C}"/>
              </a:ext>
            </a:extLst>
          </p:cNvPr>
          <p:cNvSpPr txBox="1"/>
          <p:nvPr/>
        </p:nvSpPr>
        <p:spPr>
          <a:xfrm>
            <a:off x="9710132" y="1301311"/>
            <a:ext cx="19941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</a:rPr>
              <a:t>Degrees of Freedom: 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7E93CA-1DE2-4775-B807-7199179381CD}"/>
              </a:ext>
            </a:extLst>
          </p:cNvPr>
          <p:cNvSpPr txBox="1"/>
          <p:nvPr/>
        </p:nvSpPr>
        <p:spPr>
          <a:xfrm>
            <a:off x="1436571" y="2890875"/>
            <a:ext cx="9752797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Assess whether the primary disease markers (obstruction, perforation, adherence, extent) jointly improve model fit beyond covariates</a:t>
            </a:r>
            <a:endParaRPr lang="en-US" sz="1250" b="1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37BEED-F6B9-7BFE-6B96-892BEA86DC12}"/>
              </a:ext>
            </a:extLst>
          </p:cNvPr>
          <p:cNvSpPr txBox="1"/>
          <p:nvPr/>
        </p:nvSpPr>
        <p:spPr>
          <a:xfrm>
            <a:off x="548639" y="3223557"/>
            <a:ext cx="164110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MODELS COMPARED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21A4D2-A266-E431-72C1-DDFA678DA52D}"/>
              </a:ext>
            </a:extLst>
          </p:cNvPr>
          <p:cNvSpPr txBox="1"/>
          <p:nvPr/>
        </p:nvSpPr>
        <p:spPr>
          <a:xfrm>
            <a:off x="6217920" y="3179922"/>
            <a:ext cx="52120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HYPOTHESES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C60F3A-5927-2F9B-9746-206C99237F7D}"/>
              </a:ext>
            </a:extLst>
          </p:cNvPr>
          <p:cNvSpPr/>
          <p:nvPr/>
        </p:nvSpPr>
        <p:spPr>
          <a:xfrm>
            <a:off x="6217920" y="3545682"/>
            <a:ext cx="5212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0C9336-4558-EFD8-2570-3F61957EFA78}"/>
              </a:ext>
            </a:extLst>
          </p:cNvPr>
          <p:cNvSpPr txBox="1"/>
          <p:nvPr/>
        </p:nvSpPr>
        <p:spPr>
          <a:xfrm>
            <a:off x="6309360" y="3559732"/>
            <a:ext cx="1945178" cy="246221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Calibri"/>
              </a:rPr>
              <a:t>  Null</a:t>
            </a:r>
            <a:r>
              <a:rPr lang="en-US" sz="1600" b="1">
                <a:solidFill>
                  <a:srgbClr val="0B2A4A"/>
                </a:solidFill>
                <a:latin typeface="Calibri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Calibri"/>
              </a:rPr>
              <a:t>Hypothesis</a:t>
            </a:r>
            <a:r>
              <a:rPr lang="en-US" sz="1600" b="1">
                <a:solidFill>
                  <a:srgbClr val="0B2A4A"/>
                </a:solidFill>
                <a:latin typeface="Calibri"/>
              </a:rPr>
              <a:t>: </a:t>
            </a:r>
            <a:endParaRPr sz="1600" b="1">
              <a:solidFill>
                <a:srgbClr val="0B2A4A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6C679B-F8A7-C4CE-85FE-57BF848B507C}"/>
                  </a:ext>
                </a:extLst>
              </p:cNvPr>
              <p:cNvSpPr txBox="1"/>
              <p:nvPr/>
            </p:nvSpPr>
            <p:spPr>
              <a:xfrm>
                <a:off x="6400800" y="3865722"/>
                <a:ext cx="5029200" cy="2659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𝑜𝑏𝑠𝑡𝑟𝑢𝑐𝑡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𝑝𝑒𝑟𝑓𝑜𝑟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𝑎𝑑ℎ𝑒𝑟𝑒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𝑒𝑥𝑡𝑒𝑛𝑡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1600" b="0">
                  <a:solidFill>
                    <a:srgbClr val="55606B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6C679B-F8A7-C4CE-85FE-57BF848B5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865722"/>
                <a:ext cx="5029200" cy="265970"/>
              </a:xfrm>
              <a:prstGeom prst="rect">
                <a:avLst/>
              </a:prstGeom>
              <a:blipFill>
                <a:blip r:embed="rId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E20E14C0-C5C9-D54F-E8D5-DDED115EAA75}"/>
              </a:ext>
            </a:extLst>
          </p:cNvPr>
          <p:cNvSpPr/>
          <p:nvPr/>
        </p:nvSpPr>
        <p:spPr>
          <a:xfrm>
            <a:off x="6217920" y="4460082"/>
            <a:ext cx="5212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DD7F409-45C7-5E93-BEDC-C15FBCDA8998}"/>
                  </a:ext>
                </a:extLst>
              </p:cNvPr>
              <p:cNvSpPr txBox="1"/>
              <p:nvPr/>
            </p:nvSpPr>
            <p:spPr>
              <a:xfrm>
                <a:off x="6309360" y="4818222"/>
                <a:ext cx="5029200" cy="26603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𝐴𝑡𝑙𝑒𝑎𝑠𝑡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𝑡ℎ𝑒𝑠𝑒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ar-AE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b="0">
                  <a:solidFill>
                    <a:schemeClr val="tx1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DD7F409-45C7-5E93-BEDC-C15FBCDA8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4818222"/>
                <a:ext cx="5029200" cy="266035"/>
              </a:xfrm>
              <a:prstGeom prst="rect">
                <a:avLst/>
              </a:prstGeom>
              <a:blipFill>
                <a:blip r:embed="rId6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1624C0F-CCED-1732-F044-49D6689B9352}"/>
              </a:ext>
            </a:extLst>
          </p:cNvPr>
          <p:cNvSpPr txBox="1"/>
          <p:nvPr/>
        </p:nvSpPr>
        <p:spPr>
          <a:xfrm>
            <a:off x="6309359" y="4492836"/>
            <a:ext cx="1945179" cy="24622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Calibri"/>
              </a:rPr>
              <a:t>  Alternate Hypothesis</a:t>
            </a:r>
            <a:endParaRPr sz="1600" b="1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E81588-E9E5-7A6A-BD83-3AAE4B4F402E}"/>
              </a:ext>
            </a:extLst>
          </p:cNvPr>
          <p:cNvSpPr txBox="1"/>
          <p:nvPr/>
        </p:nvSpPr>
        <p:spPr>
          <a:xfrm>
            <a:off x="6494206" y="5602576"/>
            <a:ext cx="4659507" cy="79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Disease markers are jointly significant (block p = 0.040)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Provide additional explanatory value beyond covariates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Justifies inclusion of the full disease marker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55606B"/>
                </a:solidFill>
                <a:latin typeface="Calibri"/>
              </a:rPr>
              <a:t>Adding disease markers reduces unexplained variability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3F8BDC9-3257-3634-0103-F5D3A743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37502"/>
              </p:ext>
            </p:extLst>
          </p:nvPr>
        </p:nvGraphicFramePr>
        <p:xfrm>
          <a:off x="731520" y="4469420"/>
          <a:ext cx="5212079" cy="183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87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Statistic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Partial F: full vs. reduced (drop 6 marker terms)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(6, 874)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F = 2.22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0.040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Block kept; revisit at selection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8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Reduced model (covariates only) SSE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307.64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8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Full model (with markers) SSE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303.03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83C756B9-65D9-ADAF-7F1D-AE20FECC6ACF}"/>
              </a:ext>
            </a:extLst>
          </p:cNvPr>
          <p:cNvSpPr txBox="1"/>
          <p:nvPr/>
        </p:nvSpPr>
        <p:spPr>
          <a:xfrm>
            <a:off x="6212308" y="5301044"/>
            <a:ext cx="164110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INTERPRETATION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DBE480-E5AA-8C9E-B303-0578BD72C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3" y="3133725"/>
            <a:ext cx="5635227" cy="1334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71"/>
    </mc:Choice>
    <mc:Fallback xmlns="">
      <p:transition spd="slow" advTm="5497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77BF-6CD7-D77D-E992-309908C0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F97006B-BA1F-79B9-676D-D6A82918F009}"/>
              </a:ext>
            </a:extLst>
          </p:cNvPr>
          <p:cNvSpPr/>
          <p:nvPr/>
        </p:nvSpPr>
        <p:spPr>
          <a:xfrm>
            <a:off x="1691164" y="5480149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E6E9B-B315-B1D4-5784-9FB33280E542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6F7CB-3201-6393-0BDB-5A569CBD11E3}"/>
              </a:ext>
            </a:extLst>
          </p:cNvPr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FFD97-71FF-D0A3-60E7-E8CCC743B70D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14924-25D7-D95A-B14B-3C43F0887309}"/>
              </a:ext>
            </a:extLst>
          </p:cNvPr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Interaction Effects Assessment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DEC8B-BE84-3B2F-6804-BB75C2C04377}"/>
              </a:ext>
            </a:extLst>
          </p:cNvPr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8F7463-9C0A-0F4B-83A3-8448DA4CC3AB}"/>
              </a:ext>
            </a:extLst>
          </p:cNvPr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40551-92A5-F90D-9272-18E51D946E07}"/>
              </a:ext>
            </a:extLst>
          </p:cNvPr>
          <p:cNvSpPr txBox="1"/>
          <p:nvPr/>
        </p:nvSpPr>
        <p:spPr>
          <a:xfrm>
            <a:off x="77724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Interaction terms tested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035CC3-7914-4A48-4641-C992ABA43EF0}"/>
              </a:ext>
            </a:extLst>
          </p:cNvPr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514D7-17A7-97BD-EC4C-69A9FAA12B31}"/>
              </a:ext>
            </a:extLst>
          </p:cNvPr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Model R² (with interactions)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F4E951-147A-1752-C39E-FB507BF1E807}"/>
              </a:ext>
            </a:extLst>
          </p:cNvPr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5263C-2268-EEDE-631A-E917AA69AF2C}"/>
              </a:ext>
            </a:extLst>
          </p:cNvPr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1 / 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2CC0F8-3EF6-ADCD-0EEA-5A61C374DDD5}"/>
              </a:ext>
            </a:extLst>
          </p:cNvPr>
          <p:cNvSpPr txBox="1"/>
          <p:nvPr/>
        </p:nvSpPr>
        <p:spPr>
          <a:xfrm>
            <a:off x="617220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Significant interactions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8A376B-1F30-B877-0CAF-544A8360E8A8}"/>
              </a:ext>
            </a:extLst>
          </p:cNvPr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8C85FD-D4E5-DA03-20A1-8EB8951EAF94}"/>
              </a:ext>
            </a:extLst>
          </p:cNvPr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55606B"/>
                </a:solidFill>
                <a:latin typeface="Calibri"/>
              </a:rPr>
              <a:t>Drop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683C85-5BA6-F3C3-90DD-8DA41E0375EB}"/>
              </a:ext>
            </a:extLst>
          </p:cNvPr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Decision on interactions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4FE56-AF69-5465-C85A-468017480D32}"/>
              </a:ext>
            </a:extLst>
          </p:cNvPr>
          <p:cNvSpPr txBox="1"/>
          <p:nvPr/>
        </p:nvSpPr>
        <p:spPr>
          <a:xfrm>
            <a:off x="548640" y="28803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4828E"/>
                </a:solidFill>
                <a:latin typeface="Calibri"/>
              </a:rPr>
              <a:t>D</a:t>
            </a:r>
            <a:r>
              <a:rPr lang="en-US" sz="1400">
                <a:solidFill>
                  <a:srgbClr val="14828E"/>
                </a:solidFill>
                <a:latin typeface="Calibri"/>
              </a:rPr>
              <a:t>o Disease Markers Contribute Beyond Covariates</a:t>
            </a:r>
            <a:r>
              <a:rPr sz="1400">
                <a:solidFill>
                  <a:srgbClr val="14828E"/>
                </a:solidFill>
                <a:latin typeface="Calibri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2279D-C8FA-90A3-31A7-AE09AE45759E}"/>
              </a:ext>
            </a:extLst>
          </p:cNvPr>
          <p:cNvSpPr txBox="1"/>
          <p:nvPr/>
        </p:nvSpPr>
        <p:spPr>
          <a:xfrm>
            <a:off x="4754880" y="5306853"/>
            <a:ext cx="658558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Interaction block is statistically significant, but driven by weak and inconsistent effects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Only 1 of 9 interactions is significant → consistent with chance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No clear or interpretable interaction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Final model excludes interactions to maintain parsimony and stability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0F1040-44F4-7B0C-2829-59CEF93F630B}"/>
              </a:ext>
            </a:extLst>
          </p:cNvPr>
          <p:cNvSpPr txBox="1"/>
          <p:nvPr/>
        </p:nvSpPr>
        <p:spPr>
          <a:xfrm>
            <a:off x="1796415" y="5480149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6B39C2F-51ED-D6BC-C5C3-79196B495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53106"/>
              </p:ext>
            </p:extLst>
          </p:nvPr>
        </p:nvGraphicFramePr>
        <p:xfrm>
          <a:off x="472287" y="3251252"/>
          <a:ext cx="1124711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3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Statistic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Block Test: Interactions (Full vs. Main Effects)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(9,868)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F = 2.96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&lt;0.0001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Interactions improve model fit, but evaluate individually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Best individual interaction: adhere x extent_2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β = +0.555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0.046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1 of 9 → likely chance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All other interactions (8 terms)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303.03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&gt;0.05</a:t>
                      </a:r>
                      <a:endParaRPr sz="1000" kern="1200">
                        <a:solidFill>
                          <a:srgbClr val="1F2A4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kern="1200">
                          <a:solidFill>
                            <a:srgbClr val="1F2A44"/>
                          </a:solidFill>
                          <a:latin typeface="+mn-lt"/>
                          <a:ea typeface="+mn-ea"/>
                          <a:cs typeface="+mn-cs"/>
                        </a:rPr>
                        <a:t>No interactions retained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7AF0215-EC4A-C776-8C61-964D75AEF6C5}"/>
              </a:ext>
            </a:extLst>
          </p:cNvPr>
          <p:cNvSpPr txBox="1"/>
          <p:nvPr/>
        </p:nvSpPr>
        <p:spPr>
          <a:xfrm>
            <a:off x="77724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0B2A4A"/>
                </a:solidFill>
                <a:latin typeface="Calibri"/>
              </a:rPr>
              <a:t>9</a:t>
            </a:r>
            <a:endParaRPr sz="320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EA27F-EFF4-5F24-3ED8-6AF884755E93}"/>
              </a:ext>
            </a:extLst>
          </p:cNvPr>
          <p:cNvSpPr txBox="1"/>
          <p:nvPr/>
        </p:nvSpPr>
        <p:spPr>
          <a:xfrm>
            <a:off x="347472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2D9C6B"/>
                </a:solidFill>
                <a:latin typeface="Calibri"/>
              </a:rPr>
              <a:t>0.0608</a:t>
            </a:r>
            <a:endParaRPr sz="3200">
              <a:solidFill>
                <a:srgbClr val="2D9C6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263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05"/>
    </mc:Choice>
    <mc:Fallback xmlns="">
      <p:transition spd="slow" advTm="8380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95EAA6-8A6A-E0BC-B8F6-C1DD79C0E3C9}"/>
              </a:ext>
            </a:extLst>
          </p:cNvPr>
          <p:cNvSpPr/>
          <p:nvPr/>
        </p:nvSpPr>
        <p:spPr>
          <a:xfrm>
            <a:off x="1691164" y="5776121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Final Model Selection – Stepwise and Best Subsets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Variables retained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2D9C6B"/>
                </a:solidFill>
                <a:latin typeface="Calibri"/>
              </a:rPr>
              <a:t>0.039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Final Model R² (Adj 0.035)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7.80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Mallows </a:t>
            </a:r>
            <a:r>
              <a:rPr sz="1200">
                <a:solidFill>
                  <a:srgbClr val="55606B"/>
                </a:solidFill>
                <a:latin typeface="Calibri"/>
              </a:rPr>
              <a:t>C(p) </a:t>
            </a:r>
            <a:r>
              <a:rPr lang="en-US" sz="1200">
                <a:solidFill>
                  <a:srgbClr val="55606B"/>
                </a:solidFill>
                <a:latin typeface="Calibri"/>
              </a:rPr>
              <a:t>– Final Model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55606B"/>
                </a:solidFill>
                <a:latin typeface="Calibri"/>
              </a:rPr>
              <a:t>−932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AIC (best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>
                <a:solidFill>
                  <a:srgbClr val="14828E"/>
                </a:solidFill>
              </a:rPr>
              <a:t>Stepwise Selection (SLE = SLS = 0.05), Confirmed by Best-Subsets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5855" y="5703869"/>
            <a:ext cx="658558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Stepwise selection retained 4 predictors: age, differ_2, differ_3, extent_3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Tumor differentiation (differ) is the strongest driver of node burden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Only one disease marker (extent_3) contributes after adjustment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Other markers (obstruct, </a:t>
            </a:r>
            <a:r>
              <a:rPr lang="en-US" sz="1200" err="1">
                <a:solidFill>
                  <a:srgbClr val="55606B"/>
                </a:solidFill>
              </a:rPr>
              <a:t>perfor</a:t>
            </a:r>
            <a:r>
              <a:rPr lang="en-US" sz="1200">
                <a:solidFill>
                  <a:srgbClr val="55606B"/>
                </a:solidFill>
              </a:rPr>
              <a:t>, adhere, extent_2, extent_4) do not improve 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Model performance remains low (R² ≈ 0.04) despite selection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3A2D9-AFD7-C99F-F162-62BE8AA6432C}"/>
              </a:ext>
            </a:extLst>
          </p:cNvPr>
          <p:cNvSpPr txBox="1"/>
          <p:nvPr/>
        </p:nvSpPr>
        <p:spPr>
          <a:xfrm>
            <a:off x="1796415" y="5863572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37618"/>
              </p:ext>
            </p:extLst>
          </p:nvPr>
        </p:nvGraphicFramePr>
        <p:xfrm>
          <a:off x="472287" y="3251252"/>
          <a:ext cx="112471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36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Variable entered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Cum. R²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C(p)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Partial p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differ_3 (Poor vs Well)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0.017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22.0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strongest single predictor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+ age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0.029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13.4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0.001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continuous covariate enters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+ extent_3 (Serosa)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0.034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10.4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0.027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only disease-marker term to enter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+ differ_2 (Mod vs Well)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0.039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7.80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0.033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completes differ contrast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(no further entry)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&gt; 0.05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obstruct, </a:t>
                      </a:r>
                      <a:r>
                        <a:rPr sz="1100" err="1">
                          <a:solidFill>
                            <a:srgbClr val="1F2A44"/>
                          </a:solidFill>
                        </a:rPr>
                        <a:t>perfor</a:t>
                      </a:r>
                      <a:r>
                        <a:rPr sz="1100">
                          <a:solidFill>
                            <a:srgbClr val="1F2A44"/>
                          </a:solidFill>
                        </a:rPr>
                        <a:t>, adhere, extent_2/4 excluded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188"/>
    </mc:Choice>
    <mc:Fallback xmlns="">
      <p:transition spd="slow" advTm="8918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95EAA6-8A6A-E0BC-B8F6-C1DD79C0E3C9}"/>
              </a:ext>
            </a:extLst>
          </p:cNvPr>
          <p:cNvSpPr/>
          <p:nvPr/>
        </p:nvSpPr>
        <p:spPr>
          <a:xfrm>
            <a:off x="-161386" y="5784140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Final Log-Transformed Model and Key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0B2A4A"/>
                </a:solidFill>
                <a:latin typeface="Calibri"/>
              </a:rPr>
              <a:t>888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Sample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2D9C6B"/>
                </a:solidFill>
                <a:latin typeface="Calibri"/>
              </a:rPr>
              <a:t>&lt;.0001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F-test p-value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0.039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R²  (Adj 0.035)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55606B"/>
                </a:solidFill>
                <a:latin typeface="Calibri"/>
              </a:rPr>
              <a:t>0.72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Lack-of-fit p (passes)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63454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14828E"/>
                </a:solidFill>
                <a:latin typeface="Calibri"/>
              </a:rPr>
              <a:t>log(nodes + 1)  =  β₀ + β₁ · age + β₂ · differ_2 + β₃ · differ_3 + β₄ · extent_3</a:t>
            </a:r>
            <a:r>
              <a:rPr lang="en-US" sz="1400">
                <a:solidFill>
                  <a:srgbClr val="14828E"/>
                </a:solidFill>
                <a:latin typeface="Calibri"/>
              </a:rPr>
              <a:t> 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4568" y="5805434"/>
            <a:ext cx="497305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Each additional year of age → ~0.5% fewer nodes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Poorly differentiated tumors → +39% nodes (e^0.329) vs. well-differentiated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Serosa invasion → +12% more nodes vs. ≤ muscle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Lack-of-fit p = 0.72 supports the linear-in-log model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3A2D9-AFD7-C99F-F162-62BE8AA6432C}"/>
              </a:ext>
            </a:extLst>
          </p:cNvPr>
          <p:cNvSpPr txBox="1"/>
          <p:nvPr/>
        </p:nvSpPr>
        <p:spPr>
          <a:xfrm>
            <a:off x="228600" y="5542833"/>
            <a:ext cx="1780347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72287" y="3251252"/>
          <a:ext cx="112471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6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Predictor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β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Effect on nodes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Intercept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+1.405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(1.159, 1.652)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age (per year)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−0.0054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(−0.0086, −0.0021)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0.001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−0.5% per year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differ_2 (Mod vs. Well)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+0.142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(+0.012, +0.272)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0.033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+15%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differ_3 (Poor vs. Well)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+0.329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(+0.173, +0.484)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+39%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extent_3 (Serosa vs. ≤ Muscle)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+0.115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(+0.013, +0.216)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0.027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+12%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B5EAC86-CCBB-0572-9729-BB43F0A46588}"/>
              </a:ext>
            </a:extLst>
          </p:cNvPr>
          <p:cNvSpPr txBox="1"/>
          <p:nvPr/>
        </p:nvSpPr>
        <p:spPr>
          <a:xfrm>
            <a:off x="2042391" y="5542833"/>
            <a:ext cx="4861085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Tumor differentiation is the strongest predictor of lymph node burden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Poorly differentiated tumors have substantially higher node involvement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Age has a small negative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Extent of invasion contributes modestly after adjustment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Model fit is statistically significant but explains little variability </a:t>
            </a:r>
            <a:r>
              <a:rPr lang="en-US" sz="1200" b="1">
                <a:solidFill>
                  <a:srgbClr val="55606B"/>
                </a:solidFill>
              </a:rPr>
              <a:t>(Adjusted R² = 0.04</a:t>
            </a:r>
            <a:endParaRPr lang="en-US" sz="1200">
              <a:solidFill>
                <a:srgbClr val="55606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E07E34-C1DF-07F2-12EC-6249CD9A5A0C}"/>
              </a:ext>
            </a:extLst>
          </p:cNvPr>
          <p:cNvSpPr txBox="1"/>
          <p:nvPr/>
        </p:nvSpPr>
        <p:spPr>
          <a:xfrm>
            <a:off x="7074568" y="5520970"/>
            <a:ext cx="241353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>
                <a:solidFill>
                  <a:srgbClr val="14828E"/>
                </a:solidFill>
              </a:rPr>
              <a:t>Back-Transformed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788"/>
    </mc:Choice>
    <mc:Fallback xmlns="">
      <p:transition spd="slow" advTm="11378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95EAA6-8A6A-E0BC-B8F6-C1DD79C0E3C9}"/>
              </a:ext>
            </a:extLst>
          </p:cNvPr>
          <p:cNvSpPr/>
          <p:nvPr/>
        </p:nvSpPr>
        <p:spPr>
          <a:xfrm>
            <a:off x="7303845" y="3281058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Model Validation and Inference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0B2A4A"/>
                </a:solidFill>
                <a:latin typeface="Calibri"/>
              </a:rPr>
              <a:t>307.1</a:t>
            </a:r>
            <a:r>
              <a:rPr lang="en-US" sz="3200">
                <a:solidFill>
                  <a:srgbClr val="0B2A4A"/>
                </a:solidFill>
                <a:latin typeface="Calibri"/>
              </a:rPr>
              <a:t>2</a:t>
            </a:r>
            <a:endParaRPr sz="320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SSE (in-sample)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2D9C6B"/>
                </a:solidFill>
                <a:latin typeface="Calibri"/>
              </a:rPr>
              <a:t>310.5</a:t>
            </a:r>
            <a:r>
              <a:rPr lang="en-US" sz="3200">
                <a:solidFill>
                  <a:srgbClr val="2D9C6B"/>
                </a:solidFill>
                <a:latin typeface="Calibri"/>
              </a:rPr>
              <a:t>3</a:t>
            </a:r>
            <a:endParaRPr sz="3200">
              <a:solidFill>
                <a:srgbClr val="2D9C6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PRESS (LOOCV)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+1.1%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Out-of-sample increase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solidFill>
                  <a:srgbClr val="55606B"/>
                </a:solidFill>
                <a:latin typeface="Calibri"/>
              </a:rPr>
              <a:t>1 of 3</a:t>
            </a:r>
            <a:endParaRPr sz="3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Significant extent contrasts (Bonferroni</a:t>
            </a:r>
            <a:r>
              <a:rPr sz="1200">
                <a:solidFill>
                  <a:srgbClr val="55606B"/>
                </a:solidFill>
                <a:latin typeface="Calibri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05071"/>
            <a:ext cx="57438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Cross-Validation and Adjusted Inference for Extent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2360" y="4109026"/>
            <a:ext cx="390640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Model shows stable performance out-of-sample (PRESS ≈ SSE)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Minimal overfitting → good generalizability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Overall model fit remains low (R² ≈ 0.04)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After adjustment, only one extent contrast (serosa vs submucosa) is significant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55606B"/>
                </a:solidFill>
              </a:rPr>
              <a:t>Extent effect is driven by a single comparison, not a consistent pattern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3A2D9-AFD7-C99F-F162-62BE8AA6432C}"/>
              </a:ext>
            </a:extLst>
          </p:cNvPr>
          <p:cNvSpPr txBox="1"/>
          <p:nvPr/>
        </p:nvSpPr>
        <p:spPr>
          <a:xfrm>
            <a:off x="7303845" y="3398067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53507"/>
              </p:ext>
            </p:extLst>
          </p:nvPr>
        </p:nvGraphicFramePr>
        <p:xfrm>
          <a:off x="777240" y="3278512"/>
          <a:ext cx="6172200" cy="26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SSE (</a:t>
                      </a:r>
                      <a:r>
                        <a:rPr lang="en-US" sz="1100">
                          <a:solidFill>
                            <a:srgbClr val="1F2A44"/>
                          </a:solidFill>
                        </a:rPr>
                        <a:t>in-sample, residual sum of squares</a:t>
                      </a:r>
                      <a:r>
                        <a:rPr sz="1100">
                          <a:solidFill>
                            <a:srgbClr val="1F2A44"/>
                          </a:solidFill>
                        </a:rPr>
                        <a:t>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307.1</a:t>
                      </a:r>
                      <a:r>
                        <a:rPr lang="en-US" sz="1100">
                          <a:solidFill>
                            <a:srgbClr val="1F2A44"/>
                          </a:solidFill>
                        </a:rPr>
                        <a:t>2</a:t>
                      </a:r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Training-set fit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PRESS (leave-one-out CV residual sum of squares)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310.5</a:t>
                      </a:r>
                      <a:r>
                        <a:rPr lang="en-US" sz="1100">
                          <a:solidFill>
                            <a:srgbClr val="1F2A44"/>
                          </a:solidFill>
                        </a:rPr>
                        <a:t>3</a:t>
                      </a:r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Out-of-sample fit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PRESS / SSE ratio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1.011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≈ 1% degradation → no overfitting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Bonferroni: extent 3 vs 1 (Serosa vs Submucosa)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Δ = +0.369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95% sim. CI (0.007, 0.730)   ✓ significant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All other extent pairwise comparisons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>
                        <a:solidFill>
                          <a:srgbClr val="1F2A44"/>
                        </a:solidFill>
                      </a:endParaRP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95% sim. CIs cross 0   ✗ not significant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400"/>
    </mc:Choice>
    <mc:Fallback xmlns="">
      <p:transition spd="slow" advTm="864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95EAA6-8A6A-E0BC-B8F6-C1DD79C0E3C9}"/>
              </a:ext>
            </a:extLst>
          </p:cNvPr>
          <p:cNvSpPr/>
          <p:nvPr/>
        </p:nvSpPr>
        <p:spPr>
          <a:xfrm>
            <a:off x="6846354" y="3192714"/>
            <a:ext cx="2560320" cy="66848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/>
              <a:t>Key Scientific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7240" y="1719072"/>
                <a:ext cx="256032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0B2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sz="3200">
                    <a:solidFill>
                      <a:srgbClr val="0B2A4A"/>
                    </a:solidFill>
                    <a:latin typeface="Calibri"/>
                  </a:rPr>
                  <a:t>4%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719072"/>
                <a:ext cx="2560320" cy="492443"/>
              </a:xfrm>
              <a:prstGeom prst="rect">
                <a:avLst/>
              </a:prstGeom>
              <a:blipFill>
                <a:blip r:embed="rId5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77240" y="22219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Variance explained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2D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560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>
                <a:solidFill>
                  <a:srgbClr val="2D9C6B"/>
                </a:solidFill>
                <a:latin typeface="Calibri"/>
              </a:rPr>
              <a:t>Tumor </a:t>
            </a:r>
            <a:r>
              <a:rPr sz="2800">
                <a:solidFill>
                  <a:srgbClr val="2D9C6B"/>
                </a:solidFill>
                <a:latin typeface="Calibri"/>
              </a:rPr>
              <a:t>Pathology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Strongest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6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E86A59"/>
                </a:solidFill>
                <a:latin typeface="Calibri"/>
              </a:rPr>
              <a:t>3 of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21992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Disease markers </a:t>
            </a:r>
            <a:r>
              <a:rPr lang="en-US" sz="1200">
                <a:solidFill>
                  <a:srgbClr val="55606B"/>
                </a:solidFill>
                <a:latin typeface="Calibri"/>
              </a:rPr>
              <a:t>not informative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69680" y="1536192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>
                <a:solidFill>
                  <a:srgbClr val="55606B"/>
                </a:solidFill>
                <a:latin typeface="Calibri"/>
              </a:rPr>
              <a:t>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21992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55606B"/>
                </a:solidFill>
                <a:latin typeface="Calibri"/>
              </a:rPr>
              <a:t>Low R² </a:t>
            </a:r>
            <a:r>
              <a:rPr lang="en-US" sz="1200">
                <a:solidFill>
                  <a:srgbClr val="55606B"/>
                </a:solidFill>
                <a:latin typeface="Calibri"/>
              </a:rPr>
              <a:t>reflects true </a:t>
            </a:r>
          </a:p>
          <a:p>
            <a:pPr algn="ctr"/>
            <a:r>
              <a:rPr lang="en-US" sz="1200">
                <a:solidFill>
                  <a:srgbClr val="55606B"/>
                </a:solidFill>
                <a:latin typeface="Calibri"/>
              </a:rPr>
              <a:t>biological complexity</a:t>
            </a:r>
            <a:endParaRPr sz="1200">
              <a:solidFill>
                <a:srgbClr val="55606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2880359"/>
            <a:ext cx="463215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>
                <a:solidFill>
                  <a:srgbClr val="14828E"/>
                </a:solidFill>
                <a:latin typeface="Calibri"/>
              </a:rPr>
              <a:t>SCIENTIFIC IMPLICATIONS</a:t>
            </a:r>
            <a:endParaRPr sz="1400">
              <a:solidFill>
                <a:srgbClr val="14828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65629" y="3861197"/>
            <a:ext cx="5026468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/>
              <a:t>Lymph node burden is </a:t>
            </a:r>
            <a:r>
              <a:rPr lang="en-US" sz="1200" b="1"/>
              <a:t>weakly predictable</a:t>
            </a:r>
            <a:r>
              <a:rPr lang="en-US" sz="1200"/>
              <a:t> from standard clinical and pathological variables in this trial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/>
              <a:t>Tumor differentiation grade and serosa-level invasion provide the </a:t>
            </a:r>
            <a:r>
              <a:rPr lang="en-US" sz="1200" b="1"/>
              <a:t>only consistent signal</a:t>
            </a:r>
            <a:r>
              <a:rPr lang="en-US" sz="120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/>
              <a:t>Gross local-disease markers (</a:t>
            </a:r>
            <a:r>
              <a:rPr lang="en-US" sz="1200" b="1"/>
              <a:t>obstruction, perforation, adherence</a:t>
            </a:r>
            <a:r>
              <a:rPr lang="en-US" sz="1200"/>
              <a:t>) </a:t>
            </a:r>
            <a:r>
              <a:rPr lang="en-US" sz="1200" b="1"/>
              <a:t>do not add explanatory power</a:t>
            </a:r>
            <a:r>
              <a:rPr lang="en-US" sz="1200"/>
              <a:t> once pathology is accounted for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/>
              <a:t>Model generalizes well; </a:t>
            </a:r>
            <a:r>
              <a:rPr lang="en-US" sz="1200" b="1"/>
              <a:t>low R² reflects true biological complexity</a:t>
            </a:r>
            <a:r>
              <a:rPr lang="en-US" sz="1200"/>
              <a:t>, not overfitting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b="1"/>
              <a:t>Stage II/III colon cancer context:</a:t>
            </a:r>
            <a:r>
              <a:rPr lang="en-US" sz="120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/>
              <a:t>Standard clinical and pathological variables have </a:t>
            </a:r>
            <a:r>
              <a:rPr lang="en-US" sz="1200" b="1"/>
              <a:t>limited predictive ability</a:t>
            </a:r>
            <a:r>
              <a:rPr lang="en-US" sz="120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/>
              <a:t>Differentiation and serosa-level invasion drive the signal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/>
              <a:t>Gross disease markers do </a:t>
            </a:r>
            <a:r>
              <a:rPr lang="en-US" sz="1200" b="1"/>
              <a:t>not contribute additional explanatory value</a:t>
            </a:r>
            <a:r>
              <a:rPr lang="en-US" sz="1200"/>
              <a:t> beyond pathology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A3A2D9-AFD7-C99F-F162-62BE8AA6432C}"/>
              </a:ext>
            </a:extLst>
          </p:cNvPr>
          <p:cNvSpPr txBox="1"/>
          <p:nvPr/>
        </p:nvSpPr>
        <p:spPr>
          <a:xfrm>
            <a:off x="7240748" y="3280135"/>
            <a:ext cx="245506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rgbClr val="0B2A4A"/>
                </a:solidFill>
                <a:latin typeface="Calibri"/>
              </a:rPr>
              <a:t>Key Takeaways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96335"/>
              </p:ext>
            </p:extLst>
          </p:nvPr>
        </p:nvGraphicFramePr>
        <p:xfrm>
          <a:off x="472287" y="3251251"/>
          <a:ext cx="6084924" cy="3267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2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51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Clinical interpretation</a:t>
                      </a:r>
                    </a:p>
                  </a:txBody>
                  <a:tcPr marL="60000" marR="60000" marT="25000" marB="25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Histology beats macroscopic findings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differ + extent_3 retained at p &lt; 0.05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Microscopic features predict nodal burden better than gross findings.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Gross findings ≠ nodal disease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obstruct, perfor, adhere all p &gt; 0.15 in selection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Bowel obstruction or perforation does not, by itself, signal more nodes.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Inverse age effect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β_age = −0.005 / year (p = 0.001)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Younger patients trend toward heavier nodal disease  biology, not surveillance.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Limitation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R² ≈ 4%, count outcome with overdispersion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OLS on log scale workable; negative-binomial GLM more principled.</a:t>
                      </a:r>
                    </a:p>
                  </a:txBody>
                  <a:tcPr marL="60000" marR="60000" marT="25000" marB="25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Future direction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Add molecular markers (KRAS, MSI, sidedness, location)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Patient-level biology likely dominates the unexplained 96%.</a:t>
                      </a:r>
                    </a:p>
                  </a:txBody>
                  <a:tcPr marL="60000" marR="60000" marT="25000" marB="25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57"/>
    </mc:Choice>
    <mc:Fallback xmlns="">
      <p:transition spd="slow" advTm="7705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" cy="2286000"/>
          </a:xfrm>
          <a:prstGeom prst="rect">
            <a:avLst/>
          </a:prstGeom>
          <a:solidFill>
            <a:srgbClr val="E86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A59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100584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Appendix</a:t>
            </a:r>
          </a:p>
          <a:p>
            <a:r>
              <a:rPr>
                <a:solidFill>
                  <a:schemeClr val="bg1"/>
                </a:solidFill>
              </a:rPr>
              <a:t>Supplementary diagnostics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A1 · Distribution of `nodes`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DISTRIBUTION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265369"/>
              </p:ext>
            </p:extLst>
          </p:nvPr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3.66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0–33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+2.55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Kurtosis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+10.26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Shapiro-Wilk W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Shapiro-Wilk 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&lt;0.0001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27701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6B"/>
                </a:solidFill>
                <a:latin typeface="Consolas"/>
              </a:rPr>
              <a:t>PROC UNIVARIATE DATA=colon; VAR nodes; HISTOGRAM nodes / NORMAL KERNEL; RUN;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846697-32A9-927F-2073-A4827A113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658" y="1848685"/>
            <a:ext cx="5330283" cy="44042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A2 · Distribution of `age`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DISTRIBUTION</a:t>
            </a:r>
            <a:endParaRPr sz="1100" b="1">
              <a:solidFill>
                <a:srgbClr val="14828E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46823"/>
              </p:ext>
            </p:extLst>
          </p:nvPr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59.8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18–85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-0.58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Kurtosis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-0.10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Q-Q plot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Near diagonal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No transform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6B"/>
                </a:solidFill>
                <a:latin typeface="Consolas"/>
              </a:rPr>
              <a:t>PROC UNIVARIATE DATA=colon; VAR age; HISTOGRAM age / NORMAL; QQPLOT age / NORMAL(MU=EST SIGMA=EST); RUN;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0478A3-DB65-5693-7B2D-1C250842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98" y="1972056"/>
            <a:ext cx="5088793" cy="42458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A3 · Boxplots by Categorical Predictors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6B"/>
                </a:solidFill>
                <a:latin typeface="Consolas"/>
              </a:rPr>
              <a:t>PROC SGPLOT DATA=colon; VBOX nodes / CATEGORY=&lt;predictor&gt;; RUN;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0DE639-B657-E820-9CFF-B4D6410A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766135"/>
            <a:ext cx="2886578" cy="21663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7B11E6-25A9-F45B-307C-23443A457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390" y="1808268"/>
            <a:ext cx="2953623" cy="21663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E0A130-8B01-D0BC-2D27-F8A72306F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374" y="1808267"/>
            <a:ext cx="2900565" cy="21663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6154E7-6BE8-6B9C-F17D-5267A311C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" y="3893962"/>
            <a:ext cx="2886579" cy="2141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F1FF8B-14E5-CB81-D5C6-6C9308CC5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258" y="3863685"/>
            <a:ext cx="2953623" cy="22258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05F5D3-3044-60DD-1F4A-5E23B2E25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4373" y="3832099"/>
            <a:ext cx="2900565" cy="2225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6945E5-7809-E7D9-2BA7-3A5B25C17F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517" y="1785545"/>
            <a:ext cx="2612205" cy="19551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3C7C9B-C154-1BC2-1C0D-2DFEF18FA5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1517" y="3701073"/>
            <a:ext cx="2625765" cy="23568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A4 · Bivariate Associations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4828E"/>
                </a:solidFill>
                <a:latin typeface="Calibri"/>
              </a:rPr>
              <a:t>nodes vs. age (PROC CORR)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4A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-0.087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0.0099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2A4A"/>
                          </a:solidFill>
                          <a:latin typeface="Calibri"/>
                        </a:rPr>
                        <a:t>Spearman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-0.113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2A4A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1188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Statistically significant due to large N but clinically negligible (|r| &lt; 0.15; R² &lt; 1%).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4828E"/>
                </a:solidFill>
                <a:latin typeface="Calibri"/>
              </a:rPr>
              <a:t>Local-disease markers vs. extent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1031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Pair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χ²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Cramér's V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adhere × extent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34.0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&lt;.0001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obstruct × extent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0.024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A4A"/>
                          </a:solidFill>
                          <a:latin typeface="Calibri"/>
                        </a:rPr>
                        <a:t>perfor × extent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0.150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29768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All Cramér's V ≤ 0.20  only modest associations; no severe multicollinearity.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0972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6B"/>
                </a:solidFill>
                <a:latin typeface="Consolas"/>
              </a:rPr>
              <a:t>PROC CORR DATA=colon PEARSON SPEARMAN; VAR nodes age; RUN;</a:t>
            </a:r>
          </a:p>
          <a:p>
            <a:r>
              <a:rPr sz="900">
                <a:latin typeface="Consolas" panose="020B0609020204030204" pitchFamily="49" charset="0"/>
                <a:cs typeface="Consolas" panose="020B0609020204030204" pitchFamily="49" charset="0"/>
              </a:rPr>
              <a:t>PROC FREQ DATA=colon; TABLES (obstruct </a:t>
            </a:r>
            <a:r>
              <a:rPr sz="900" err="1">
                <a:latin typeface="Consolas" panose="020B0609020204030204" pitchFamily="49" charset="0"/>
                <a:cs typeface="Consolas" panose="020B0609020204030204" pitchFamily="49" charset="0"/>
              </a:rPr>
              <a:t>perfor</a:t>
            </a:r>
            <a:r>
              <a:rPr sz="900">
                <a:latin typeface="Consolas" panose="020B0609020204030204" pitchFamily="49" charset="0"/>
                <a:cs typeface="Consolas" panose="020B0609020204030204" pitchFamily="49" charset="0"/>
              </a:rPr>
              <a:t> adhere)*extent / CHISQ; RUN;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  <a:endParaRPr sz="11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A5 · Residual Diagnostics</a:t>
            </a:r>
            <a:r>
              <a:rPr lang="en-US" sz="3000" b="1">
                <a:solidFill>
                  <a:srgbClr val="0B2A4A"/>
                </a:solidFill>
                <a:latin typeface="Calibri"/>
              </a:rPr>
              <a:t> (Untransformed Outcome) </a:t>
            </a:r>
            <a:endParaRPr sz="3000" b="1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63955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FORMAL</a:t>
            </a:r>
            <a:r>
              <a:rPr sz="1600" b="1">
                <a:solidFill>
                  <a:srgbClr val="14828E"/>
                </a:solidFill>
                <a:latin typeface="Calibri"/>
              </a:rPr>
              <a:t> </a:t>
            </a:r>
            <a:r>
              <a:rPr b="1">
                <a:solidFill>
                  <a:srgbClr val="14828E"/>
                </a:solidFill>
                <a:latin typeface="Calibri"/>
              </a:rPr>
              <a:t>TESTS</a:t>
            </a:r>
            <a:endParaRPr sz="1600" b="1">
              <a:solidFill>
                <a:srgbClr val="14828E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689299"/>
              </p:ext>
            </p:extLst>
          </p:nvPr>
        </p:nvGraphicFramePr>
        <p:xfrm>
          <a:off x="8046720" y="2103120"/>
          <a:ext cx="3840480" cy="243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80000" marR="80000" marT="40000" marB="40000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Shapiro-Wilk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W = 0.79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&lt;0.0001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Kolmogorov-Smirnov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D = 0.16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&lt;0.010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Cramer-von Mises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W² = 8.21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&lt;0.005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2A4A"/>
                          </a:solidFill>
                          <a:latin typeface="Calibri"/>
                        </a:rPr>
                        <a:t>Anderson-Darling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A² = 46.05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2A4A"/>
                          </a:solidFill>
                          <a:latin typeface="Calibri"/>
                        </a:rPr>
                        <a:t>&lt;0.005</a:t>
                      </a:r>
                    </a:p>
                  </a:txBody>
                  <a:tcPr marL="80000" marR="80000" marT="40000" marB="40000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367985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06B"/>
                </a:solidFill>
                <a:latin typeface="Consolas"/>
              </a:rPr>
              <a:t>PROC UNIVARIATE DATA=</a:t>
            </a:r>
            <a:r>
              <a:rPr sz="1000" b="0" err="1">
                <a:solidFill>
                  <a:srgbClr val="55606B"/>
                </a:solidFill>
                <a:latin typeface="Consolas"/>
              </a:rPr>
              <a:t>full_diag</a:t>
            </a:r>
            <a:r>
              <a:rPr sz="1000" b="0">
                <a:solidFill>
                  <a:srgbClr val="55606B"/>
                </a:solidFill>
                <a:latin typeface="Consolas"/>
              </a:rPr>
              <a:t> NORMAL; VAR resid; HISTOGRAM resid / NORMAL; QQPLOT resid; RUN;</a:t>
            </a:r>
            <a:endParaRPr lang="en-US" sz="1000" b="0">
              <a:solidFill>
                <a:srgbClr val="55606B"/>
              </a:solidFill>
              <a:latin typeface="Consolas"/>
            </a:endParaRPr>
          </a:p>
          <a:p>
            <a:r>
              <a:rPr lang="en-US" sz="1000">
                <a:solidFill>
                  <a:srgbClr val="55606B"/>
                </a:solidFill>
                <a:latin typeface="Consolas"/>
              </a:rPr>
              <a:t>PROC MODEL DATA=</a:t>
            </a:r>
            <a:r>
              <a:rPr lang="en-US" sz="1000" err="1">
                <a:solidFill>
                  <a:srgbClr val="55606B"/>
                </a:solidFill>
                <a:latin typeface="Consolas"/>
              </a:rPr>
              <a:t>colon_reg</a:t>
            </a:r>
            <a:r>
              <a:rPr lang="en-US" sz="1000">
                <a:solidFill>
                  <a:srgbClr val="55606B"/>
                </a:solidFill>
                <a:latin typeface="Consolas"/>
              </a:rPr>
              <a:t>; FIT nodes / WHITE BREUSCH=(age obstruct </a:t>
            </a:r>
            <a:r>
              <a:rPr lang="en-US" sz="1000" err="1">
                <a:solidFill>
                  <a:srgbClr val="55606B"/>
                </a:solidFill>
                <a:latin typeface="Consolas"/>
              </a:rPr>
              <a:t>perfor</a:t>
            </a:r>
            <a:r>
              <a:rPr lang="en-US" sz="1000">
                <a:solidFill>
                  <a:srgbClr val="55606B"/>
                </a:solidFill>
                <a:latin typeface="Consolas"/>
              </a:rPr>
              <a:t> adhere extent_2 extent_3 extent_4 </a:t>
            </a:r>
            <a:r>
              <a:rPr lang="en-US" sz="1000" err="1">
                <a:solidFill>
                  <a:srgbClr val="55606B"/>
                </a:solidFill>
                <a:latin typeface="Consolas"/>
              </a:rPr>
              <a:t>rx_lev</a:t>
            </a:r>
            <a:r>
              <a:rPr lang="en-US" sz="1000">
                <a:solidFill>
                  <a:srgbClr val="55606B"/>
                </a:solidFill>
                <a:latin typeface="Consolas"/>
              </a:rPr>
              <a:t> rx_5fu sex differ_2 differ_3 surg); RUN;</a:t>
            </a:r>
            <a:endParaRPr sz="1000" b="0">
              <a:solidFill>
                <a:srgbClr val="55606B"/>
              </a:solidFill>
              <a:latin typeface="Consola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B02A74-EFDA-5AEE-2527-52A3CEA0B352}"/>
              </a:ext>
            </a:extLst>
          </p:cNvPr>
          <p:cNvGrpSpPr/>
          <p:nvPr/>
        </p:nvGrpSpPr>
        <p:grpSpPr>
          <a:xfrm>
            <a:off x="457200" y="1272896"/>
            <a:ext cx="6827825" cy="5069491"/>
            <a:chOff x="457200" y="1418070"/>
            <a:chExt cx="6827825" cy="5069491"/>
          </a:xfrm>
        </p:grpSpPr>
        <p:sp>
          <p:nvSpPr>
            <p:cNvPr id="7" name="Rectangle 6"/>
            <p:cNvSpPr/>
            <p:nvPr/>
          </p:nvSpPr>
          <p:spPr>
            <a:xfrm>
              <a:off x="457200" y="1418070"/>
              <a:ext cx="6827825" cy="5069491"/>
            </a:xfrm>
            <a:prstGeom prst="rect">
              <a:avLst/>
            </a:prstGeom>
            <a:solidFill>
              <a:srgbClr val="F4F6F8"/>
            </a:solidFill>
            <a:ln>
              <a:solidFill>
                <a:srgbClr val="5560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6907840-BF94-5B7C-3760-F79DA61FD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456" y="1477055"/>
              <a:ext cx="3260566" cy="240644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4124913-C02A-061F-393E-1F5BC5EAA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8278" y="1480122"/>
              <a:ext cx="3174830" cy="238937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12A980-0273-FAE2-A55E-AE07C0E49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456" y="3942487"/>
              <a:ext cx="3260566" cy="246480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C08DD2D-B702-40EE-3797-B8D884BD0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8278" y="3973817"/>
              <a:ext cx="3174830" cy="24334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Appendix A6 · Influence Diagnostics (Step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319861"/>
            <a:ext cx="1188263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>
                <a:solidFill>
                  <a:srgbClr val="55606B"/>
                </a:solidFill>
                <a:latin typeface="Consolas"/>
              </a:rPr>
              <a:t>PROC REG DATA=</a:t>
            </a:r>
            <a:r>
              <a:rPr lang="en-US" sz="1200" err="1">
                <a:solidFill>
                  <a:srgbClr val="55606B"/>
                </a:solidFill>
                <a:latin typeface="Consolas"/>
              </a:rPr>
              <a:t>colon_num</a:t>
            </a:r>
            <a:r>
              <a:rPr lang="en-US" sz="1200">
                <a:solidFill>
                  <a:srgbClr val="55606B"/>
                </a:solidFill>
                <a:latin typeface="Consolas"/>
              </a:rPr>
              <a:t> PLOTS(LABEL ONLY)=(COOKSD RSTUDENTBYLEVERAGE DFFITS DFBETAS); </a:t>
            </a:r>
          </a:p>
          <a:p>
            <a:r>
              <a:rPr sz="1200">
                <a:solidFill>
                  <a:srgbClr val="55606B"/>
                </a:solidFill>
                <a:latin typeface="Consolas"/>
              </a:rPr>
              <a:t>MODEL nodes = age sex obstruct </a:t>
            </a:r>
            <a:r>
              <a:rPr sz="1200" err="1">
                <a:solidFill>
                  <a:srgbClr val="55606B"/>
                </a:solidFill>
                <a:latin typeface="Consolas"/>
              </a:rPr>
              <a:t>perfor</a:t>
            </a:r>
            <a:r>
              <a:rPr sz="1200">
                <a:solidFill>
                  <a:srgbClr val="55606B"/>
                </a:solidFill>
                <a:latin typeface="Consolas"/>
              </a:rPr>
              <a:t> adhere surg </a:t>
            </a:r>
            <a:r>
              <a:rPr sz="1200" err="1">
                <a:solidFill>
                  <a:srgbClr val="55606B"/>
                </a:solidFill>
                <a:latin typeface="Consolas"/>
              </a:rPr>
              <a:t>rx_lev</a:t>
            </a:r>
            <a:r>
              <a:rPr sz="1200">
                <a:solidFill>
                  <a:srgbClr val="55606B"/>
                </a:solidFill>
                <a:latin typeface="Consolas"/>
              </a:rPr>
              <a:t> rx_5fu differ_2 differ_3 extent_2 extent_3 extent_4 / INFLUENCE R; RUN; QUIT;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502580-CCB0-6A39-2D10-82FF85BEC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83" y="2533618"/>
            <a:ext cx="3685980" cy="27615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A0FAD7-F431-7B73-DF18-821FC47F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554" y="2528503"/>
            <a:ext cx="3685980" cy="27557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E773A6-7BC4-B592-7F70-AC65EC450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412" y="2528503"/>
            <a:ext cx="3685980" cy="27718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A7 · Box-Cox Transformation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BOX-COX SPEC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Field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Lambda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−0.50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Lambda (MLE)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−0.55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Log-Likelihood at MLE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−668.7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LL at convenient λ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−669.2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95% CI threshold (LL)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−670.6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Alpha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0.05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λ = 0 inside CI?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Selected</a:t>
                      </a:r>
                    </a:p>
                  </a:txBody>
                  <a:tcPr>
                    <a:solidFill>
                      <a:srgbClr val="FDE6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44"/>
                          </a:solidFill>
                          <a:latin typeface="Inter"/>
                        </a:rPr>
                        <a:t>λ = 0 (log)</a:t>
                      </a:r>
                    </a:p>
                  </a:txBody>
                  <a:tcPr>
                    <a:solidFill>
                      <a:srgbClr val="FDE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A44461B-1241-EA96-F6B8-A0D2129A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75859"/>
            <a:ext cx="590905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A8 · Residual Diagnostics  log(nodes + 1)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BEFORE vs.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7701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5606B"/>
                </a:solidFill>
                <a:latin typeface="Consolas"/>
              </a:rPr>
              <a:t>PROC UNIVARIATE DATA=full_diag NORMAL; VAR resid; HISTOGRAM resid / NORMAL; QQPLOT resid / NORMAL(MU=EST SIGMA=EST); RUN;  repeat with resid_log.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13796"/>
              </p:ext>
            </p:extLst>
          </p:nvPr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Untransf.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log(+1)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Skewness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+2.55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+0.6</a:t>
                      </a:r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3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Kurtosis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+10.3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−0.14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Shapiro-Wilk W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0.79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0.96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W p-value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Resid. min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−11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−1.6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Resid. max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+28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+2.2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BP test p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</a:t>
                      </a:r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1880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1F2A44"/>
                          </a:solidFill>
                        </a:rPr>
                        <a:t>0.0036</a:t>
                      </a:r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40A9049-F7C3-C632-2687-309F71767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44224"/>
            <a:ext cx="3589798" cy="2692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8E01A0-139A-CA91-BDA9-6B777FDE7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91" y="1875858"/>
            <a:ext cx="3589799" cy="27579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A9 · Interaction Model  Full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ALL 9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7701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5606B"/>
                </a:solidFill>
                <a:latin typeface="Consolas"/>
              </a:rPr>
              <a:t>PROC REG DATA=colon_interact; MODEL log_nodes = ... + int_obstruct_extent2 ... int_adhere_extent3 / VIF; RUN;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Interaction term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β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adhere × extent_2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+0.555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0.046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adhere × extent_3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+0.325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0.125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obstruct × extent_2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+0.001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0.997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obstruct × extent_3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−0.203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0.500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perfor × extent_2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+0.261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0.710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perfor × extent_3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+0.330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0.396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Model R²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0.061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Adj R²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0.040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C27405D-76FA-E247-78FF-8E1C3FE3D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066" y="1846448"/>
            <a:ext cx="4403468" cy="43943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A10 · Variable Selection  Best 10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TOP 10  (by Adj R²)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46720" y="2103120"/>
          <a:ext cx="38404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1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#vars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Adj R²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C(p)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AIC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Variables (after age, differ_3)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9.59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−931.12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obstruct perfor adhere ext_2/3/4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10.61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−930.12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surg + above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8.75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−931.94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adhere ext_2/3/4 + obstruct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7.77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−932.91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obstruct ext_2/3/4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8.81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−931.88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surg obstruct ext_2/3/4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9.82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−930.88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surg obstruct adhere ext_2/3/4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9.00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−930.80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surg perfor ext_2/3/4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0.0390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7.92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−932.75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 rx_5fu adhere ext_2/3/4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7585F0B-6D1D-97B1-07F2-24153DF74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09" y="1930573"/>
            <a:ext cx="4804308" cy="436845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A11 · Final Model Diagnostics  log(nodes + 1)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LACK-OF-FIT ANOVA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7701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5606B"/>
                </a:solidFill>
                <a:latin typeface="Consolas"/>
              </a:rPr>
              <a:t>PROC REG DATA=colon_log; MODEL log_nodes = age differ_2 differ_3 extent_3 / LACKFIT CLB VIF; OUTPUT OUT=final_out P=yhat_final R=resid_final; RUN;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46720" y="2103120"/>
          <a:ext cx="384047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4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9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SS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MS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Model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12.501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3.125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8.99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&lt;.0001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Lack of Fit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209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68.953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0.330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0.93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0.722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Pure Error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674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238.166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0.353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Corrected Total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887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319.620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Root MSE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0.590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Adj R²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0.035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PRESS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310.5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D96AC6F-803A-7E61-CF5C-70ADED61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03" y="1803496"/>
            <a:ext cx="4115557" cy="46226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0B2A4A"/>
                </a:solidFill>
                <a:latin typeface="Calibri"/>
              </a:rPr>
              <a:t>Appendix A12 · Bonferroni Pairwise Comparisons  extent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00" cy="4754880"/>
          </a:xfrm>
          <a:prstGeom prst="rect">
            <a:avLst/>
          </a:prstGeom>
          <a:solidFill>
            <a:srgbClr val="F4F6F8"/>
          </a:solidFill>
          <a:ln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4828E"/>
                </a:solidFill>
                <a:latin typeface="Calibri"/>
              </a:rPr>
              <a:t>PAIRWISE  (α = 0.05, 6 contrasts)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46720" y="210312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Contrast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Δ mean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Sim. 95% CI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Sig.</a:t>
                      </a:r>
                    </a:p>
                  </a:txBody>
                  <a:tcPr marL="50000" marR="50000" marT="20000" marB="20000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3 − 1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+0.369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(+0.007, +0.730)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✓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3 − 2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+0.135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(−0.030, +0.299)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3 − 4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−0.041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(−0.303, +0.222)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4 − 1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+0.410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(−0.030, +0.849)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4 − 2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+0.176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(−0.123, +0.474)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2 − 1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+0.234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A44"/>
                          </a:solidFill>
                        </a:rPr>
                        <a:t>(−0.155, +0.623)</a:t>
                      </a: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>
                        <a:solidFill>
                          <a:srgbClr val="1F2A44"/>
                        </a:solidFill>
                      </a:endParaRPr>
                    </a:p>
                  </a:txBody>
                  <a:tcPr marL="50000" marR="50000" marT="20000" marB="200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21EC99B-13FC-958E-1571-042B5B892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17121"/>
            <a:ext cx="5267966" cy="439535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4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0" cy="54864"/>
          </a:xfrm>
          <a:prstGeom prst="rect">
            <a:avLst/>
          </a:prstGeom>
          <a:solidFill>
            <a:srgbClr val="E86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4828E"/>
                </a:solidFill>
                <a:latin typeface="Calibri"/>
              </a:rPr>
              <a:t>▸  </a:t>
            </a:r>
            <a:r>
              <a:rPr sz="1400">
                <a:solidFill>
                  <a:srgbClr val="0B2A4A"/>
                </a:solidFill>
                <a:latin typeface="Calibri"/>
              </a:rPr>
              <a:t>Kutner, M. H., Nachtsheim, C. J., </a:t>
            </a:r>
            <a:r>
              <a:rPr sz="1400" err="1">
                <a:solidFill>
                  <a:srgbClr val="0B2A4A"/>
                </a:solidFill>
                <a:latin typeface="Calibri"/>
              </a:rPr>
              <a:t>Neter</a:t>
            </a:r>
            <a:r>
              <a:rPr sz="1400">
                <a:solidFill>
                  <a:srgbClr val="0B2A4A"/>
                </a:solidFill>
                <a:latin typeface="Calibri"/>
              </a:rPr>
              <a:t>, J., &amp; Li, W. (2005). Applied Linear Statistical Models, 5th ed. McGraw-Hill.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4828E"/>
                </a:solidFill>
                <a:latin typeface="Calibri"/>
              </a:rPr>
              <a:t>▸  </a:t>
            </a:r>
            <a:r>
              <a:rPr sz="1400">
                <a:solidFill>
                  <a:srgbClr val="0B2A4A"/>
                </a:solidFill>
                <a:latin typeface="Calibri"/>
              </a:rPr>
              <a:t>Laurie, J. A., et al. (1989). Surgical adjuvant therapy of large-bowel carcinoma: an evaluation of levamisole and the combination of levamisole and fluorouracil. Journal of Clinical Oncology.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4828E"/>
                </a:solidFill>
                <a:latin typeface="Calibri"/>
              </a:rPr>
              <a:t>▸  </a:t>
            </a:r>
            <a:r>
              <a:rPr sz="1400" err="1">
                <a:solidFill>
                  <a:srgbClr val="0B2A4A"/>
                </a:solidFill>
                <a:latin typeface="Calibri"/>
              </a:rPr>
              <a:t>Therneau</a:t>
            </a:r>
            <a:r>
              <a:rPr sz="1400">
                <a:solidFill>
                  <a:srgbClr val="0B2A4A"/>
                </a:solidFill>
                <a:latin typeface="Calibri"/>
              </a:rPr>
              <a:t>, T. The survival package, R Project. </a:t>
            </a:r>
            <a:r>
              <a:rPr sz="1400" err="1">
                <a:solidFill>
                  <a:srgbClr val="0B2A4A"/>
                </a:solidFill>
                <a:latin typeface="Calibri"/>
              </a:rPr>
              <a:t>vincentarelbundock.github.io</a:t>
            </a:r>
            <a:r>
              <a:rPr sz="1400">
                <a:solidFill>
                  <a:srgbClr val="0B2A4A"/>
                </a:solidFill>
                <a:latin typeface="Calibri"/>
              </a:rPr>
              <a:t>/</a:t>
            </a:r>
            <a:r>
              <a:rPr sz="1400" err="1">
                <a:solidFill>
                  <a:srgbClr val="0B2A4A"/>
                </a:solidFill>
                <a:latin typeface="Calibri"/>
              </a:rPr>
              <a:t>Rdatasets</a:t>
            </a:r>
            <a:r>
              <a:rPr sz="1400">
                <a:solidFill>
                  <a:srgbClr val="0B2A4A"/>
                </a:solidFill>
                <a:latin typeface="Calibri"/>
              </a:rPr>
              <a:t>/doc/survival/</a:t>
            </a:r>
            <a:r>
              <a:rPr sz="1400" err="1">
                <a:solidFill>
                  <a:srgbClr val="0B2A4A"/>
                </a:solidFill>
                <a:latin typeface="Calibri"/>
              </a:rPr>
              <a:t>colon.html</a:t>
            </a:r>
            <a:endParaRPr sz="1400">
              <a:solidFill>
                <a:srgbClr val="0B2A4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Microsoft Office PowerPoint</Application>
  <PresentationFormat>Widescreen</PresentationFormat>
  <Paragraphs>853</Paragraphs>
  <Slides>31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Cambria Math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Kooner, Parminder S</cp:lastModifiedBy>
  <cp:revision>3</cp:revision>
  <dcterms:created xsi:type="dcterms:W3CDTF">2013-01-27T09:14:16Z</dcterms:created>
  <dcterms:modified xsi:type="dcterms:W3CDTF">2026-08-25T21:44:00Z</dcterms:modified>
  <cp:category/>
</cp:coreProperties>
</file>